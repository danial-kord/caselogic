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4" d="100"/>
          <a:sy n="154" d="100"/>
        </p:scale>
        <p:origin x="2142"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DC3E24-826D-4FAF-9F1D-7AE1F9604576}" type="datetimeFigureOut">
              <a:rPr lang="en-US" smtClean="0"/>
              <a:t>5/9/2026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F611C-EABA-48C0-8BCF-1D9FD08F51CE}" type="slidenum">
              <a:rPr lang="en-US" smtClean="0"/>
              <a:t>‹#›</a:t>
            </a:fld>
            <a:endParaRPr lang="en-US"/>
          </a:p>
        </p:txBody>
      </p:sp>
    </p:spTree>
    <p:extLst>
      <p:ext uri="{BB962C8B-B14F-4D97-AF65-F5344CB8AC3E}">
        <p14:creationId xmlns:p14="http://schemas.microsoft.com/office/powerpoint/2010/main" val="2817851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latin typeface="Aptos"/>
              </a:rPr>
              <a:t>0:00-0:40
Open by framing this as an implementation review, not a speculative roadmap.
The story: CaseLogic is trying to make vehicle-law research trustworthy by forcing retrieval before answer generation.
Call out the three themes on screen: hybrid retrieval, grounded chat, inspectable sources.</a:t>
            </a:r>
            <a:endParaRPr lang="en-US">
              <a:latin typeface="Aptos"/>
            </a:endParaRPr>
          </a:p>
        </p:txBody>
      </p:sp>
      <p:sp>
        <p:nvSpPr>
          <p:cNvPr id="4" name="Slide Number Placeholder 3"/>
          <p:cNvSpPr>
            <a:spLocks noGrp="1"/>
          </p:cNvSpPr>
          <p:nvPr>
            <p:ph type="sldNum" sz="quarter" idx="10"/>
          </p:nvPr>
        </p:nvSpPr>
        <p:spPr/>
        <p:txBody>
          <a:bodyPr/>
          <a:lstStyle/>
          <a:p>
            <a:fld id="{B5BF611C-EABA-48C0-8BCF-1D9FD08F51CE}" type="slidenum">
              <a:rPr lang="en-US" smtClean="0"/>
              <a:t>1</a:t>
            </a:fld>
            <a:endParaRPr lang="en-US"/>
          </a:p>
        </p:txBody>
      </p:sp>
    </p:spTree>
    <p:extLst>
      <p:ext uri="{BB962C8B-B14F-4D97-AF65-F5344CB8AC3E}">
        <p14:creationId xmlns:p14="http://schemas.microsoft.com/office/powerpoint/2010/main" val="18532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latin typeface="Aptos"/>
              </a:rPr>
              <a:t>0:40-1:20
Explain the actual wedge this product targets.
We are not trying to replace legal reasoning with a generic LLM.
We are trying to compress the time from question to verified statute text.</a:t>
            </a:r>
            <a:endParaRPr lang="en-US">
              <a:latin typeface="Aptos"/>
            </a:endParaRPr>
          </a:p>
        </p:txBody>
      </p:sp>
      <p:sp>
        <p:nvSpPr>
          <p:cNvPr id="4" name="Slide Number Placeholder 3"/>
          <p:cNvSpPr>
            <a:spLocks noGrp="1"/>
          </p:cNvSpPr>
          <p:nvPr>
            <p:ph type="sldNum" sz="quarter" idx="10"/>
          </p:nvPr>
        </p:nvSpPr>
        <p:spPr/>
        <p:txBody>
          <a:bodyPr/>
          <a:lstStyle/>
          <a:p>
            <a:fld id="{B5BF611C-EABA-48C0-8BCF-1D9FD08F51CE}" type="slidenum">
              <a:rPr lang="en-US" smtClean="0"/>
              <a:t>2</a:t>
            </a:fld>
            <a:endParaRPr lang="en-US"/>
          </a:p>
        </p:txBody>
      </p:sp>
    </p:spTree>
    <p:extLst>
      <p:ext uri="{BB962C8B-B14F-4D97-AF65-F5344CB8AC3E}">
        <p14:creationId xmlns:p14="http://schemas.microsoft.com/office/powerpoint/2010/main" val="478102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latin typeface="Aptos"/>
              </a:rPr>
              <a:t>1:20-2:10
Use this slide to prove this is more than a mock UI.
Name the five implemented layers quickly: ingestion, storage, retrieval, chat agent, frontend.
Then make one candid note: the OpenClaw files are not the source of truth yet.</a:t>
            </a:r>
            <a:endParaRPr lang="en-US">
              <a:latin typeface="Aptos"/>
            </a:endParaRPr>
          </a:p>
        </p:txBody>
      </p:sp>
      <p:sp>
        <p:nvSpPr>
          <p:cNvPr id="4" name="Slide Number Placeholder 3"/>
          <p:cNvSpPr>
            <a:spLocks noGrp="1"/>
          </p:cNvSpPr>
          <p:nvPr>
            <p:ph type="sldNum" sz="quarter" idx="10"/>
          </p:nvPr>
        </p:nvSpPr>
        <p:spPr/>
        <p:txBody>
          <a:bodyPr/>
          <a:lstStyle/>
          <a:p>
            <a:fld id="{B5BF611C-EABA-48C0-8BCF-1D9FD08F51CE}" type="slidenum">
              <a:rPr lang="en-US" smtClean="0"/>
              <a:t>3</a:t>
            </a:fld>
            <a:endParaRPr lang="en-US"/>
          </a:p>
        </p:txBody>
      </p:sp>
    </p:spTree>
    <p:extLst>
      <p:ext uri="{BB962C8B-B14F-4D97-AF65-F5344CB8AC3E}">
        <p14:creationId xmlns:p14="http://schemas.microsoft.com/office/powerpoint/2010/main" val="3521556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latin typeface="Aptos"/>
              </a:rPr>
              <a:t>2:10-2:55
Walk left to right.
This is the core implementation story: ingest, persist, index, retrieve, inspect.
Pause on the fast path because it is one of the strongest trust features: citation lookup does not depend on vector quality.</a:t>
            </a:r>
            <a:endParaRPr lang="en-US">
              <a:latin typeface="Aptos"/>
            </a:endParaRPr>
          </a:p>
        </p:txBody>
      </p:sp>
      <p:sp>
        <p:nvSpPr>
          <p:cNvPr id="4" name="Slide Number Placeholder 3"/>
          <p:cNvSpPr>
            <a:spLocks noGrp="1"/>
          </p:cNvSpPr>
          <p:nvPr>
            <p:ph type="sldNum" sz="quarter" idx="10"/>
          </p:nvPr>
        </p:nvSpPr>
        <p:spPr/>
        <p:txBody>
          <a:bodyPr/>
          <a:lstStyle/>
          <a:p>
            <a:fld id="{B5BF611C-EABA-48C0-8BCF-1D9FD08F51CE}" type="slidenum">
              <a:rPr lang="en-US" smtClean="0"/>
              <a:t>4</a:t>
            </a:fld>
            <a:endParaRPr lang="en-US"/>
          </a:p>
        </p:txBody>
      </p:sp>
    </p:spTree>
    <p:extLst>
      <p:ext uri="{BB962C8B-B14F-4D97-AF65-F5344CB8AC3E}">
        <p14:creationId xmlns:p14="http://schemas.microsoft.com/office/powerpoint/2010/main" val="1733631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latin typeface="Aptos"/>
              </a:rPr>
              <a:t>2:55-3:45
This is the credibility slide.
Say exactly what was verified: retrieval/API smoke tests, chat adapter smoke tests, factor taxonomy, and the retrieve-first rule.
Also be explicit that the current checkout needs re-ingest before a live data demo.</a:t>
            </a:r>
            <a:endParaRPr lang="en-US">
              <a:latin typeface="Aptos"/>
            </a:endParaRPr>
          </a:p>
        </p:txBody>
      </p:sp>
      <p:sp>
        <p:nvSpPr>
          <p:cNvPr id="4" name="Slide Number Placeholder 3"/>
          <p:cNvSpPr>
            <a:spLocks noGrp="1"/>
          </p:cNvSpPr>
          <p:nvPr>
            <p:ph type="sldNum" sz="quarter" idx="10"/>
          </p:nvPr>
        </p:nvSpPr>
        <p:spPr/>
        <p:txBody>
          <a:bodyPr/>
          <a:lstStyle/>
          <a:p>
            <a:fld id="{B5BF611C-EABA-48C0-8BCF-1D9FD08F51CE}" type="slidenum">
              <a:rPr lang="en-US" smtClean="0"/>
              <a:t>5</a:t>
            </a:fld>
            <a:endParaRPr lang="en-US"/>
          </a:p>
        </p:txBody>
      </p:sp>
    </p:spTree>
    <p:extLst>
      <p:ext uri="{BB962C8B-B14F-4D97-AF65-F5344CB8AC3E}">
        <p14:creationId xmlns:p14="http://schemas.microsoft.com/office/powerpoint/2010/main" val="3969441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latin typeface="Aptos"/>
              </a:rPr>
              <a:t>3:45-4:40
Describe the frontend from the user's perspective.
The important move is that statute results are part of the conversation, not a separate hidden debug panel.
That makes the answer and the evidence visible in one place.</a:t>
            </a:r>
            <a:endParaRPr lang="en-US">
              <a:latin typeface="Aptos"/>
            </a:endParaRPr>
          </a:p>
        </p:txBody>
      </p:sp>
      <p:sp>
        <p:nvSpPr>
          <p:cNvPr id="4" name="Slide Number Placeholder 3"/>
          <p:cNvSpPr>
            <a:spLocks noGrp="1"/>
          </p:cNvSpPr>
          <p:nvPr>
            <p:ph type="sldNum" sz="quarter" idx="10"/>
          </p:nvPr>
        </p:nvSpPr>
        <p:spPr/>
        <p:txBody>
          <a:bodyPr/>
          <a:lstStyle/>
          <a:p>
            <a:fld id="{B5BF611C-EABA-48C0-8BCF-1D9FD08F51CE}" type="slidenum">
              <a:rPr lang="en-US" smtClean="0"/>
              <a:t>6</a:t>
            </a:fld>
            <a:endParaRPr lang="en-US"/>
          </a:p>
        </p:txBody>
      </p:sp>
    </p:spTree>
    <p:extLst>
      <p:ext uri="{BB962C8B-B14F-4D97-AF65-F5344CB8AC3E}">
        <p14:creationId xmlns:p14="http://schemas.microsoft.com/office/powerpoint/2010/main" val="23556636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latin typeface="Aptos"/>
              </a:rPr>
              <a:t>4:40-5:25
This is the trust slide.
Emphasize that the guardrails are not just UI language; they are baked into the prompt and tool design.
The strongest line to land: unsupported claims should be exposed, not hidden.</a:t>
            </a:r>
            <a:endParaRPr lang="en-US">
              <a:latin typeface="Aptos"/>
            </a:endParaRPr>
          </a:p>
        </p:txBody>
      </p:sp>
      <p:sp>
        <p:nvSpPr>
          <p:cNvPr id="4" name="Slide Number Placeholder 3"/>
          <p:cNvSpPr>
            <a:spLocks noGrp="1"/>
          </p:cNvSpPr>
          <p:nvPr>
            <p:ph type="sldNum" sz="quarter" idx="10"/>
          </p:nvPr>
        </p:nvSpPr>
        <p:spPr/>
        <p:txBody>
          <a:bodyPr/>
          <a:lstStyle/>
          <a:p>
            <a:fld id="{B5BF611C-EABA-48C0-8BCF-1D9FD08F51CE}" type="slidenum">
              <a:rPr lang="en-US" smtClean="0"/>
              <a:t>7</a:t>
            </a:fld>
            <a:endParaRPr lang="en-US"/>
          </a:p>
        </p:txBody>
      </p:sp>
    </p:spTree>
    <p:extLst>
      <p:ext uri="{BB962C8B-B14F-4D97-AF65-F5344CB8AC3E}">
        <p14:creationId xmlns:p14="http://schemas.microsoft.com/office/powerpoint/2010/main" val="28486380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latin typeface="Aptos"/>
              </a:rPr>
              <a:t>5:25-6:15
This slide keeps the presentation honest and makes the next steps concrete.
Frame the gaps as integration work, not evidence that the architecture is fake.
That turns the conversation from "is anything here real?" to "what gets us to demo readiness fastest?"</a:t>
            </a:r>
            <a:endParaRPr lang="en-US">
              <a:latin typeface="Aptos"/>
            </a:endParaRPr>
          </a:p>
        </p:txBody>
      </p:sp>
      <p:sp>
        <p:nvSpPr>
          <p:cNvPr id="4" name="Slide Number Placeholder 3"/>
          <p:cNvSpPr>
            <a:spLocks noGrp="1"/>
          </p:cNvSpPr>
          <p:nvPr>
            <p:ph type="sldNum" sz="quarter" idx="10"/>
          </p:nvPr>
        </p:nvSpPr>
        <p:spPr/>
        <p:txBody>
          <a:bodyPr/>
          <a:lstStyle/>
          <a:p>
            <a:fld id="{B5BF611C-EABA-48C0-8BCF-1D9FD08F51CE}" type="slidenum">
              <a:rPr lang="en-US" smtClean="0"/>
              <a:t>8</a:t>
            </a:fld>
            <a:endParaRPr lang="en-US"/>
          </a:p>
        </p:txBody>
      </p:sp>
    </p:spTree>
    <p:extLst>
      <p:ext uri="{BB962C8B-B14F-4D97-AF65-F5344CB8AC3E}">
        <p14:creationId xmlns:p14="http://schemas.microsoft.com/office/powerpoint/2010/main" val="2968024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latin typeface="Aptos"/>
              </a:rPr>
              <a:t>6:15-7:00
Finish by returning to the core promise: evidence first.
If you are presenting live, this is where you either open the product or pause for Q and A.
The line to leave them with: the system shows its work.</a:t>
            </a:r>
            <a:endParaRPr lang="en-US">
              <a:latin typeface="Aptos"/>
            </a:endParaRPr>
          </a:p>
        </p:txBody>
      </p:sp>
      <p:sp>
        <p:nvSpPr>
          <p:cNvPr id="4" name="Slide Number Placeholder 3"/>
          <p:cNvSpPr>
            <a:spLocks noGrp="1"/>
          </p:cNvSpPr>
          <p:nvPr>
            <p:ph type="sldNum" sz="quarter" idx="10"/>
          </p:nvPr>
        </p:nvSpPr>
        <p:spPr/>
        <p:txBody>
          <a:bodyPr/>
          <a:lstStyle/>
          <a:p>
            <a:fld id="{B5BF611C-EABA-48C0-8BCF-1D9FD08F51CE}" type="slidenum">
              <a:rPr lang="en-US" smtClean="0"/>
              <a:t>9</a:t>
            </a:fld>
            <a:endParaRPr lang="en-US"/>
          </a:p>
        </p:txBody>
      </p:sp>
    </p:spTree>
    <p:extLst>
      <p:ext uri="{BB962C8B-B14F-4D97-AF65-F5344CB8AC3E}">
        <p14:creationId xmlns:p14="http://schemas.microsoft.com/office/powerpoint/2010/main" val="338752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28CD23E-B644-4C34-8523-F897A90474B3}"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1AB65-2E18-4EBA-AECC-C703B9DF2DBC}" type="slidenum">
              <a:rPr lang="en-US" smtClean="0"/>
              <a:t>‹#›</a:t>
            </a:fld>
            <a:endParaRPr lang="en-US"/>
          </a:p>
        </p:txBody>
      </p:sp>
    </p:spTree>
    <p:extLst>
      <p:ext uri="{BB962C8B-B14F-4D97-AF65-F5344CB8AC3E}">
        <p14:creationId xmlns:p14="http://schemas.microsoft.com/office/powerpoint/2010/main" val="2259787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8CD23E-B644-4C34-8523-F897A90474B3}"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1AB65-2E18-4EBA-AECC-C703B9DF2DBC}" type="slidenum">
              <a:rPr lang="en-US" smtClean="0"/>
              <a:t>‹#›</a:t>
            </a:fld>
            <a:endParaRPr lang="en-US"/>
          </a:p>
        </p:txBody>
      </p:sp>
    </p:spTree>
    <p:extLst>
      <p:ext uri="{BB962C8B-B14F-4D97-AF65-F5344CB8AC3E}">
        <p14:creationId xmlns:p14="http://schemas.microsoft.com/office/powerpoint/2010/main" val="942769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28CD23E-B644-4C34-8523-F897A90474B3}"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1AB65-2E18-4EBA-AECC-C703B9DF2DBC}" type="slidenum">
              <a:rPr lang="en-US" smtClean="0"/>
              <a:t>‹#›</a:t>
            </a:fld>
            <a:endParaRPr lang="en-US"/>
          </a:p>
        </p:txBody>
      </p:sp>
    </p:spTree>
    <p:extLst>
      <p:ext uri="{BB962C8B-B14F-4D97-AF65-F5344CB8AC3E}">
        <p14:creationId xmlns:p14="http://schemas.microsoft.com/office/powerpoint/2010/main" val="2235347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28CD23E-B644-4C34-8523-F897A90474B3}"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01AB65-2E18-4EBA-AECC-C703B9DF2DBC}" type="slidenum">
              <a:rPr lang="en-US" smtClean="0"/>
              <a:t>‹#›</a:t>
            </a:fld>
            <a:endParaRPr lang="en-US"/>
          </a:p>
        </p:txBody>
      </p:sp>
    </p:spTree>
    <p:extLst>
      <p:ext uri="{BB962C8B-B14F-4D97-AF65-F5344CB8AC3E}">
        <p14:creationId xmlns:p14="http://schemas.microsoft.com/office/powerpoint/2010/main" val="815728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28CD23E-B644-4C34-8523-F897A90474B3}" type="datetimeFigureOut">
              <a:rPr lang="en-US" smtClean="0"/>
              <a:t>5/9/2026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01AB65-2E18-4EBA-AECC-C703B9DF2DBC}" type="slidenum">
              <a:rPr lang="en-US" smtClean="0"/>
              <a:t>‹#›</a:t>
            </a:fld>
            <a:endParaRPr lang="en-US"/>
          </a:p>
        </p:txBody>
      </p:sp>
    </p:spTree>
    <p:extLst>
      <p:ext uri="{BB962C8B-B14F-4D97-AF65-F5344CB8AC3E}">
        <p14:creationId xmlns:p14="http://schemas.microsoft.com/office/powerpoint/2010/main" val="2570217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28CD23E-B644-4C34-8523-F897A90474B3}" type="datetimeFigureOut">
              <a:rPr lang="en-US" smtClean="0"/>
              <a:t>5/9/2026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01AB65-2E18-4EBA-AECC-C703B9DF2DBC}" type="slidenum">
              <a:rPr lang="en-US" smtClean="0"/>
              <a:t>‹#›</a:t>
            </a:fld>
            <a:endParaRPr lang="en-US"/>
          </a:p>
        </p:txBody>
      </p:sp>
    </p:spTree>
    <p:extLst>
      <p:ext uri="{BB962C8B-B14F-4D97-AF65-F5344CB8AC3E}">
        <p14:creationId xmlns:p14="http://schemas.microsoft.com/office/powerpoint/2010/main" val="1237570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8CD23E-B644-4C34-8523-F897A90474B3}" type="datetimeFigureOut">
              <a:rPr lang="en-US" smtClean="0"/>
              <a:t>5/9/2026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01AB65-2E18-4EBA-AECC-C703B9DF2DBC}" type="slidenum">
              <a:rPr lang="en-US" smtClean="0"/>
              <a:t>‹#›</a:t>
            </a:fld>
            <a:endParaRPr lang="en-US"/>
          </a:p>
        </p:txBody>
      </p:sp>
    </p:spTree>
    <p:extLst>
      <p:ext uri="{BB962C8B-B14F-4D97-AF65-F5344CB8AC3E}">
        <p14:creationId xmlns:p14="http://schemas.microsoft.com/office/powerpoint/2010/main" val="1520588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28CD23E-B644-4C34-8523-F897A90474B3}"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01AB65-2E18-4EBA-AECC-C703B9DF2DBC}" type="slidenum">
              <a:rPr lang="en-US" smtClean="0"/>
              <a:t>‹#›</a:t>
            </a:fld>
            <a:endParaRPr lang="en-US"/>
          </a:p>
        </p:txBody>
      </p:sp>
    </p:spTree>
    <p:extLst>
      <p:ext uri="{BB962C8B-B14F-4D97-AF65-F5344CB8AC3E}">
        <p14:creationId xmlns:p14="http://schemas.microsoft.com/office/powerpoint/2010/main" val="1543631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28CD23E-B644-4C34-8523-F897A90474B3}"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01AB65-2E18-4EBA-AECC-C703B9DF2DBC}" type="slidenum">
              <a:rPr lang="en-US" smtClean="0"/>
              <a:t>‹#›</a:t>
            </a:fld>
            <a:endParaRPr lang="en-US"/>
          </a:p>
        </p:txBody>
      </p:sp>
    </p:spTree>
    <p:extLst>
      <p:ext uri="{BB962C8B-B14F-4D97-AF65-F5344CB8AC3E}">
        <p14:creationId xmlns:p14="http://schemas.microsoft.com/office/powerpoint/2010/main" val="3059518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8CD23E-B644-4C34-8523-F897A90474B3}"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1AB65-2E18-4EBA-AECC-C703B9DF2DBC}" type="slidenum">
              <a:rPr lang="en-US" smtClean="0"/>
              <a:t>‹#›</a:t>
            </a:fld>
            <a:endParaRPr lang="en-US"/>
          </a:p>
        </p:txBody>
      </p:sp>
    </p:spTree>
    <p:extLst>
      <p:ext uri="{BB962C8B-B14F-4D97-AF65-F5344CB8AC3E}">
        <p14:creationId xmlns:p14="http://schemas.microsoft.com/office/powerpoint/2010/main" val="4225074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8CD23E-B644-4C34-8523-F897A90474B3}"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1AB65-2E18-4EBA-AECC-C703B9DF2DBC}" type="slidenum">
              <a:rPr lang="en-US" smtClean="0"/>
              <a:t>‹#›</a:t>
            </a:fld>
            <a:endParaRPr lang="en-US"/>
          </a:p>
        </p:txBody>
      </p:sp>
    </p:spTree>
    <p:extLst>
      <p:ext uri="{BB962C8B-B14F-4D97-AF65-F5344CB8AC3E}">
        <p14:creationId xmlns:p14="http://schemas.microsoft.com/office/powerpoint/2010/main" val="3786967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8CD23E-B644-4C34-8523-F897A90474B3}" type="datetimeFigureOut">
              <a:rPr lang="en-US" smtClean="0"/>
              <a:t>5/9/2026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01AB65-2E18-4EBA-AECC-C703B9DF2DBC}" type="slidenum">
              <a:rPr lang="en-US" smtClean="0"/>
              <a:t>‹#›</a:t>
            </a:fld>
            <a:endParaRPr lang="en-US"/>
          </a:p>
        </p:txBody>
      </p:sp>
    </p:spTree>
    <p:extLst>
      <p:ext uri="{BB962C8B-B14F-4D97-AF65-F5344CB8AC3E}">
        <p14:creationId xmlns:p14="http://schemas.microsoft.com/office/powerpoint/2010/main" val="1080852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558800" y="431800"/>
            <a:ext cx="1422400" cy="101600"/>
          </a:xfrm>
          <a:prstGeom prst="rect">
            <a:avLst/>
          </a:prstGeom>
          <a:solidFill>
            <a:srgbClr val="2DD4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558800" y="889000"/>
            <a:ext cx="9652000" cy="533479"/>
          </a:xfrm>
          <a:prstGeom prst="rect">
            <a:avLst/>
          </a:prstGeom>
          <a:noFill/>
        </p:spPr>
        <p:txBody>
          <a:bodyPr vert="horz" wrap="square" lIns="101600" tIns="50800" rIns="101600" bIns="50800" rtlCol="0">
            <a:spAutoFit/>
          </a:bodyPr>
          <a:lstStyle/>
          <a:p>
            <a:r>
              <a:rPr lang="en-US" sz="2800" b="1" smtClean="0">
                <a:solidFill>
                  <a:srgbClr val="F8FAFC"/>
                </a:solidFill>
                <a:latin typeface="Aptos Display"/>
              </a:rPr>
              <a:t>CaseLogic</a:t>
            </a:r>
            <a:endParaRPr lang="en-US" sz="2800" b="1">
              <a:solidFill>
                <a:srgbClr val="F8FAFC"/>
              </a:solidFill>
              <a:latin typeface="Aptos Display"/>
            </a:endParaRPr>
          </a:p>
        </p:txBody>
      </p:sp>
      <p:cxnSp>
        <p:nvCxnSpPr>
          <p:cNvPr id="6" name="Straight Connector 5"/>
          <p:cNvCxnSpPr/>
          <p:nvPr/>
        </p:nvCxnSpPr>
        <p:spPr>
          <a:xfrm>
            <a:off x="558800" y="1676400"/>
            <a:ext cx="11074400" cy="0"/>
          </a:xfrm>
          <a:prstGeom prst="line">
            <a:avLst/>
          </a:prstGeom>
          <a:ln w="15875" cap="flat" cmpd="sng" algn="ctr">
            <a:solidFill>
              <a:srgbClr val="334155"/>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58800" y="2032000"/>
            <a:ext cx="6604000" cy="841256"/>
          </a:xfrm>
          <a:prstGeom prst="rect">
            <a:avLst/>
          </a:prstGeom>
          <a:noFill/>
        </p:spPr>
        <p:txBody>
          <a:bodyPr vert="horz" wrap="square" lIns="101600" tIns="50800" rIns="101600" bIns="50800" rtlCol="0">
            <a:spAutoFit/>
          </a:bodyPr>
          <a:lstStyle/>
          <a:p>
            <a:r>
              <a:rPr lang="en-US" sz="2400" b="1" smtClean="0">
                <a:solidFill>
                  <a:srgbClr val="E2E8F0"/>
                </a:solidFill>
                <a:latin typeface="Aptos Display"/>
              </a:rPr>
              <a:t>Source-grounded vehicle-law research, built around retrieval before reasoning.</a:t>
            </a:r>
            <a:endParaRPr lang="en-US" sz="2400" b="1">
              <a:solidFill>
                <a:srgbClr val="E2E8F0"/>
              </a:solidFill>
              <a:latin typeface="Aptos Display"/>
            </a:endParaRPr>
          </a:p>
        </p:txBody>
      </p:sp>
      <p:sp>
        <p:nvSpPr>
          <p:cNvPr id="8" name="TextBox 7"/>
          <p:cNvSpPr txBox="1"/>
          <p:nvPr/>
        </p:nvSpPr>
        <p:spPr>
          <a:xfrm>
            <a:off x="558800" y="3429000"/>
            <a:ext cx="6604000" cy="564257"/>
          </a:xfrm>
          <a:prstGeom prst="rect">
            <a:avLst/>
          </a:prstGeom>
          <a:noFill/>
        </p:spPr>
        <p:txBody>
          <a:bodyPr vert="horz" wrap="square" lIns="101600" tIns="50800" rIns="101600" bIns="50800" rtlCol="0">
            <a:spAutoFit/>
          </a:bodyPr>
          <a:lstStyle/>
          <a:p>
            <a:r>
              <a:rPr lang="en-US" sz="1500" smtClean="0">
                <a:solidFill>
                  <a:srgbClr val="94A3B8"/>
                </a:solidFill>
                <a:latin typeface="Aptos"/>
              </a:rPr>
              <a:t>This deck is based on the implemented code paths, passing smoke tests, and the repo walkthrough -- not on unfinished roadmap claims.</a:t>
            </a:r>
            <a:endParaRPr lang="en-US" sz="1500">
              <a:solidFill>
                <a:srgbClr val="94A3B8"/>
              </a:solidFill>
              <a:latin typeface="Aptos"/>
            </a:endParaRPr>
          </a:p>
        </p:txBody>
      </p:sp>
      <p:sp>
        <p:nvSpPr>
          <p:cNvPr id="9" name="Rounded Rectangle 8"/>
          <p:cNvSpPr/>
          <p:nvPr/>
        </p:nvSpPr>
        <p:spPr>
          <a:xfrm>
            <a:off x="558800" y="4826000"/>
            <a:ext cx="2159000" cy="533400"/>
          </a:xfrm>
          <a:prstGeom prst="roundRect">
            <a:avLst/>
          </a:prstGeom>
          <a:solidFill>
            <a:srgbClr val="1E293B"/>
          </a:solidFill>
          <a:ln w="12700" cap="flat" cmpd="sng" algn="ctr">
            <a:solidFill>
              <a:srgbClr val="475569"/>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60400" y="4940300"/>
            <a:ext cx="1955800" cy="318036"/>
          </a:xfrm>
          <a:prstGeom prst="rect">
            <a:avLst/>
          </a:prstGeom>
          <a:noFill/>
        </p:spPr>
        <p:txBody>
          <a:bodyPr vert="horz" wrap="square" lIns="101600" tIns="50800" rIns="101600" bIns="50800" rtlCol="0">
            <a:spAutoFit/>
          </a:bodyPr>
          <a:lstStyle/>
          <a:p>
            <a:r>
              <a:rPr lang="en-US" sz="1400" b="1" smtClean="0">
                <a:solidFill>
                  <a:srgbClr val="F8FAFC"/>
                </a:solidFill>
                <a:latin typeface="Aptos"/>
              </a:rPr>
              <a:t>Hybrid retrieval</a:t>
            </a:r>
            <a:endParaRPr lang="en-US" sz="1400" b="1">
              <a:solidFill>
                <a:srgbClr val="F8FAFC"/>
              </a:solidFill>
              <a:latin typeface="Aptos"/>
            </a:endParaRPr>
          </a:p>
        </p:txBody>
      </p:sp>
      <p:sp>
        <p:nvSpPr>
          <p:cNvPr id="11" name="Rounded Rectangle 10"/>
          <p:cNvSpPr/>
          <p:nvPr/>
        </p:nvSpPr>
        <p:spPr>
          <a:xfrm>
            <a:off x="2870200" y="4826000"/>
            <a:ext cx="2159000" cy="533400"/>
          </a:xfrm>
          <a:prstGeom prst="roundRect">
            <a:avLst/>
          </a:prstGeom>
          <a:solidFill>
            <a:srgbClr val="1E293B"/>
          </a:solidFill>
          <a:ln w="12700" cap="flat" cmpd="sng" algn="ctr">
            <a:solidFill>
              <a:srgbClr val="475569"/>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2971800" y="4940300"/>
            <a:ext cx="1955800" cy="533479"/>
          </a:xfrm>
          <a:prstGeom prst="rect">
            <a:avLst/>
          </a:prstGeom>
          <a:noFill/>
        </p:spPr>
        <p:txBody>
          <a:bodyPr vert="horz" wrap="square" lIns="101600" tIns="50800" rIns="101600" bIns="50800" rtlCol="0">
            <a:spAutoFit/>
          </a:bodyPr>
          <a:lstStyle/>
          <a:p>
            <a:r>
              <a:rPr lang="en-US" sz="1400" b="1" smtClean="0">
                <a:solidFill>
                  <a:srgbClr val="F8FAFC"/>
                </a:solidFill>
                <a:latin typeface="Aptos"/>
              </a:rPr>
              <a:t>Grounded chat agent</a:t>
            </a:r>
            <a:endParaRPr lang="en-US" sz="1400" b="1">
              <a:solidFill>
                <a:srgbClr val="F8FAFC"/>
              </a:solidFill>
              <a:latin typeface="Aptos"/>
            </a:endParaRPr>
          </a:p>
        </p:txBody>
      </p:sp>
      <p:sp>
        <p:nvSpPr>
          <p:cNvPr id="13" name="Rounded Rectangle 12"/>
          <p:cNvSpPr/>
          <p:nvPr/>
        </p:nvSpPr>
        <p:spPr>
          <a:xfrm>
            <a:off x="5181600" y="4826000"/>
            <a:ext cx="2159000" cy="533400"/>
          </a:xfrm>
          <a:prstGeom prst="roundRect">
            <a:avLst/>
          </a:prstGeom>
          <a:solidFill>
            <a:srgbClr val="1E293B"/>
          </a:solidFill>
          <a:ln w="12700" cap="flat" cmpd="sng" algn="ctr">
            <a:solidFill>
              <a:srgbClr val="475569"/>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5283200" y="4940300"/>
            <a:ext cx="1955800" cy="318036"/>
          </a:xfrm>
          <a:prstGeom prst="rect">
            <a:avLst/>
          </a:prstGeom>
          <a:noFill/>
        </p:spPr>
        <p:txBody>
          <a:bodyPr vert="horz" wrap="square" lIns="101600" tIns="50800" rIns="101600" bIns="50800" rtlCol="0">
            <a:spAutoFit/>
          </a:bodyPr>
          <a:lstStyle/>
          <a:p>
            <a:r>
              <a:rPr lang="en-US" sz="1400" b="1" smtClean="0">
                <a:solidFill>
                  <a:srgbClr val="F8FAFC"/>
                </a:solidFill>
                <a:latin typeface="Aptos"/>
              </a:rPr>
              <a:t>Inspectable sources</a:t>
            </a:r>
            <a:endParaRPr lang="en-US" sz="1400" b="1">
              <a:solidFill>
                <a:srgbClr val="F8FAFC"/>
              </a:solidFill>
              <a:latin typeface="Aptos"/>
            </a:endParaRPr>
          </a:p>
        </p:txBody>
      </p:sp>
      <p:sp>
        <p:nvSpPr>
          <p:cNvPr id="15" name="Rounded Rectangle 14"/>
          <p:cNvSpPr/>
          <p:nvPr/>
        </p:nvSpPr>
        <p:spPr>
          <a:xfrm>
            <a:off x="7874000" y="1955800"/>
            <a:ext cx="3683000" cy="3556000"/>
          </a:xfrm>
          <a:prstGeom prst="roundRect">
            <a:avLst/>
          </a:prstGeom>
          <a:solidFill>
            <a:srgbClr val="121E36"/>
          </a:solidFill>
          <a:ln w="19050" cap="flat" cmpd="sng" algn="ctr">
            <a:solidFill>
              <a:srgbClr val="2DD4BF"/>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8178800" y="2260600"/>
            <a:ext cx="3048000" cy="379591"/>
          </a:xfrm>
          <a:prstGeom prst="rect">
            <a:avLst/>
          </a:prstGeom>
          <a:noFill/>
        </p:spPr>
        <p:txBody>
          <a:bodyPr vert="horz" wrap="square" lIns="101600" tIns="50800" rIns="101600" bIns="50800" rtlCol="0">
            <a:spAutoFit/>
          </a:bodyPr>
          <a:lstStyle/>
          <a:p>
            <a:r>
              <a:rPr lang="en-US" b="1" smtClean="0">
                <a:solidFill>
                  <a:srgbClr val="F8FAFC"/>
                </a:solidFill>
                <a:latin typeface="Aptos Display"/>
              </a:rPr>
              <a:t>Implemented anchors</a:t>
            </a:r>
            <a:endParaRPr lang="en-US" b="1">
              <a:solidFill>
                <a:srgbClr val="F8FAFC"/>
              </a:solidFill>
              <a:latin typeface="Aptos Display"/>
            </a:endParaRPr>
          </a:p>
        </p:txBody>
      </p:sp>
      <p:sp>
        <p:nvSpPr>
          <p:cNvPr id="17" name="TextBox 16"/>
          <p:cNvSpPr txBox="1"/>
          <p:nvPr/>
        </p:nvSpPr>
        <p:spPr>
          <a:xfrm>
            <a:off x="8178800" y="2794000"/>
            <a:ext cx="3048000" cy="2041585"/>
          </a:xfrm>
          <a:prstGeom prst="rect">
            <a:avLst/>
          </a:prstGeom>
          <a:noFill/>
        </p:spPr>
        <p:txBody>
          <a:bodyPr vert="horz" wrap="square" lIns="101600" tIns="50800" rIns="101600" bIns="50800" rtlCol="0">
            <a:spAutoFit/>
          </a:bodyPr>
          <a:lstStyle/>
          <a:p>
            <a:r>
              <a:rPr lang="en-US" sz="1400" smtClean="0">
                <a:solidFill>
                  <a:srgbClr val="CBD5E1"/>
                </a:solidFill>
                <a:latin typeface="Aptos"/>
              </a:rPr>
              <a:t>backend/main.py mounts status, ingest, statutes, chat, and chats.</a:t>
            </a:r>
          </a:p>
          <a:p>
            <a:endParaRPr lang="en-US" sz="1400" smtClean="0">
              <a:solidFill>
                <a:srgbClr val="CBD5E1"/>
              </a:solidFill>
              <a:latin typeface="Aptos"/>
            </a:endParaRPr>
          </a:p>
          <a:p>
            <a:r>
              <a:rPr lang="en-US" sz="1400" smtClean="0">
                <a:solidFill>
                  <a:srgbClr val="CBD5E1"/>
                </a:solidFill>
                <a:latin typeface="Aptos"/>
              </a:rPr>
              <a:t>Hybrid retrieval combines citation parsing, FTS5, Chroma, and RRF.</a:t>
            </a:r>
          </a:p>
          <a:p>
            <a:endParaRPr lang="en-US" sz="1400" smtClean="0">
              <a:solidFill>
                <a:srgbClr val="CBD5E1"/>
              </a:solidFill>
              <a:latin typeface="Aptos"/>
            </a:endParaRPr>
          </a:p>
          <a:p>
            <a:r>
              <a:rPr lang="en-US" sz="1400" smtClean="0">
                <a:solidFill>
                  <a:srgbClr val="CBD5E1"/>
                </a:solidFill>
                <a:latin typeface="Aptos"/>
              </a:rPr>
              <a:t>The frontend now uses a persistent chat workflow with inline statute cards and a source modal.</a:t>
            </a:r>
            <a:endParaRPr lang="en-US" sz="1400">
              <a:solidFill>
                <a:srgbClr val="CBD5E1"/>
              </a:solidFill>
              <a:latin typeface="Aptos"/>
            </a:endParaRPr>
          </a:p>
        </p:txBody>
      </p:sp>
    </p:spTree>
    <p:extLst>
      <p:ext uri="{BB962C8B-B14F-4D97-AF65-F5344CB8AC3E}">
        <p14:creationId xmlns:p14="http://schemas.microsoft.com/office/powerpoint/2010/main" val="126393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15"/>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animBg="1"/>
      <p:bldP spid="10" grpId="0"/>
      <p:bldP spid="11" grpId="0" animBg="1"/>
      <p:bldP spid="12" grpId="0"/>
      <p:bldP spid="13" grpId="0" animBg="1"/>
      <p:bldP spid="14" grpId="0"/>
      <p:bldP spid="15" grpId="0" animBg="1"/>
      <p:bldP spid="16" grpId="0"/>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558800" y="431800"/>
            <a:ext cx="1422400" cy="101600"/>
          </a:xfrm>
          <a:prstGeom prst="rect">
            <a:avLst/>
          </a:prstGeom>
          <a:solidFill>
            <a:srgbClr val="2DD4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558800" y="584200"/>
            <a:ext cx="3302000" cy="271869"/>
          </a:xfrm>
          <a:prstGeom prst="rect">
            <a:avLst/>
          </a:prstGeom>
          <a:noFill/>
        </p:spPr>
        <p:txBody>
          <a:bodyPr vert="horz" wrap="square" lIns="101600" tIns="50800" rIns="101600" bIns="50800" rtlCol="0">
            <a:spAutoFit/>
          </a:bodyPr>
          <a:lstStyle/>
          <a:p>
            <a:r>
              <a:rPr lang="en-US" sz="1100" b="1" smtClean="0">
                <a:solidFill>
                  <a:srgbClr val="94A3B8"/>
                </a:solidFill>
                <a:latin typeface="Aptos"/>
              </a:rPr>
              <a:t>PROBLEM</a:t>
            </a:r>
            <a:endParaRPr lang="en-US" sz="1100" b="1">
              <a:solidFill>
                <a:srgbClr val="94A3B8"/>
              </a:solidFill>
              <a:latin typeface="Aptos"/>
            </a:endParaRPr>
          </a:p>
        </p:txBody>
      </p:sp>
      <p:sp>
        <p:nvSpPr>
          <p:cNvPr id="5" name="TextBox 4"/>
          <p:cNvSpPr txBox="1"/>
          <p:nvPr/>
        </p:nvSpPr>
        <p:spPr>
          <a:xfrm>
            <a:off x="558800" y="889000"/>
            <a:ext cx="9652000" cy="533479"/>
          </a:xfrm>
          <a:prstGeom prst="rect">
            <a:avLst/>
          </a:prstGeom>
          <a:noFill/>
        </p:spPr>
        <p:txBody>
          <a:bodyPr vert="horz" wrap="square" lIns="101600" tIns="50800" rIns="101600" bIns="50800" rtlCol="0">
            <a:spAutoFit/>
          </a:bodyPr>
          <a:lstStyle/>
          <a:p>
            <a:r>
              <a:rPr lang="en-US" sz="2800" b="1" smtClean="0">
                <a:solidFill>
                  <a:srgbClr val="F8FAFC"/>
                </a:solidFill>
                <a:latin typeface="Aptos Display"/>
              </a:rPr>
              <a:t>Why This Prototype Exists</a:t>
            </a:r>
            <a:endParaRPr lang="en-US" sz="2800" b="1">
              <a:solidFill>
                <a:srgbClr val="F8FAFC"/>
              </a:solidFill>
              <a:latin typeface="Aptos Display"/>
            </a:endParaRPr>
          </a:p>
        </p:txBody>
      </p:sp>
      <p:cxnSp>
        <p:nvCxnSpPr>
          <p:cNvPr id="6" name="Straight Connector 5"/>
          <p:cNvCxnSpPr/>
          <p:nvPr/>
        </p:nvCxnSpPr>
        <p:spPr>
          <a:xfrm>
            <a:off x="558800" y="1676400"/>
            <a:ext cx="11074400" cy="0"/>
          </a:xfrm>
          <a:prstGeom prst="line">
            <a:avLst/>
          </a:prstGeom>
          <a:ln w="15875" cap="flat" cmpd="sng" algn="ctr">
            <a:solidFill>
              <a:srgbClr val="334155"/>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558800" y="2108200"/>
            <a:ext cx="5080000" cy="3556000"/>
          </a:xfrm>
          <a:prstGeom prst="roundRect">
            <a:avLst/>
          </a:prstGeom>
          <a:solidFill>
            <a:srgbClr val="1E293B"/>
          </a:solidFill>
          <a:ln w="12700" cap="flat" cmpd="sng" algn="ctr">
            <a:solidFill>
              <a:srgbClr val="475569"/>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863600" y="2413000"/>
            <a:ext cx="2794000" cy="379591"/>
          </a:xfrm>
          <a:prstGeom prst="rect">
            <a:avLst/>
          </a:prstGeom>
          <a:noFill/>
        </p:spPr>
        <p:txBody>
          <a:bodyPr vert="horz" wrap="square" lIns="101600" tIns="50800" rIns="101600" bIns="50800" rtlCol="0">
            <a:spAutoFit/>
          </a:bodyPr>
          <a:lstStyle/>
          <a:p>
            <a:r>
              <a:rPr lang="en-US" b="1" smtClean="0">
                <a:solidFill>
                  <a:srgbClr val="F8FAFC"/>
                </a:solidFill>
                <a:latin typeface="Aptos Display"/>
              </a:rPr>
              <a:t>The research pain</a:t>
            </a:r>
            <a:endParaRPr lang="en-US" b="1">
              <a:solidFill>
                <a:srgbClr val="F8FAFC"/>
              </a:solidFill>
              <a:latin typeface="Aptos Display"/>
            </a:endParaRPr>
          </a:p>
        </p:txBody>
      </p:sp>
      <p:sp>
        <p:nvSpPr>
          <p:cNvPr id="9" name="TextBox 8"/>
          <p:cNvSpPr txBox="1"/>
          <p:nvPr/>
        </p:nvSpPr>
        <p:spPr>
          <a:xfrm>
            <a:off x="863600" y="2895600"/>
            <a:ext cx="4216400" cy="2318583"/>
          </a:xfrm>
          <a:prstGeom prst="rect">
            <a:avLst/>
          </a:prstGeom>
          <a:noFill/>
        </p:spPr>
        <p:txBody>
          <a:bodyPr vert="horz" wrap="square" lIns="101600" tIns="50800" rIns="101600" bIns="50800" rtlCol="0">
            <a:spAutoFit/>
          </a:bodyPr>
          <a:lstStyle/>
          <a:p>
            <a:r>
              <a:rPr lang="en-US" sz="1600" smtClean="0">
                <a:solidFill>
                  <a:srgbClr val="E2E8F0"/>
                </a:solidFill>
                <a:latin typeface="Aptos"/>
              </a:rPr>
              <a:t>- Statute lookup is split across official sites and search habits.</a:t>
            </a:r>
          </a:p>
          <a:p>
            <a:endParaRPr lang="en-US" sz="1600" smtClean="0">
              <a:solidFill>
                <a:srgbClr val="E2E8F0"/>
              </a:solidFill>
              <a:latin typeface="Aptos"/>
            </a:endParaRPr>
          </a:p>
          <a:p>
            <a:r>
              <a:rPr lang="en-US" sz="1600" smtClean="0">
                <a:solidFill>
                  <a:srgbClr val="E2E8F0"/>
                </a:solidFill>
                <a:latin typeface="Aptos"/>
              </a:rPr>
              <a:t>- Generic chatbots sound confident even when they cannot show the source.</a:t>
            </a:r>
          </a:p>
          <a:p>
            <a:endParaRPr lang="en-US" sz="1600" smtClean="0">
              <a:solidFill>
                <a:srgbClr val="E2E8F0"/>
              </a:solidFill>
              <a:latin typeface="Aptos"/>
            </a:endParaRPr>
          </a:p>
          <a:p>
            <a:r>
              <a:rPr lang="en-US" sz="1600" smtClean="0">
                <a:solidFill>
                  <a:srgbClr val="E2E8F0"/>
                </a:solidFill>
                <a:latin typeface="Aptos"/>
              </a:rPr>
              <a:t>- Attorneys need exact language, not just summaries, especially for fault and traffic-rule questions.</a:t>
            </a:r>
            <a:endParaRPr lang="en-US" sz="1600">
              <a:solidFill>
                <a:srgbClr val="E2E8F0"/>
              </a:solidFill>
              <a:latin typeface="Aptos"/>
            </a:endParaRPr>
          </a:p>
        </p:txBody>
      </p:sp>
      <p:sp>
        <p:nvSpPr>
          <p:cNvPr id="10" name="Rounded Rectangle 9"/>
          <p:cNvSpPr/>
          <p:nvPr/>
        </p:nvSpPr>
        <p:spPr>
          <a:xfrm>
            <a:off x="6045200" y="2108200"/>
            <a:ext cx="5511800" cy="3556000"/>
          </a:xfrm>
          <a:prstGeom prst="roundRect">
            <a:avLst/>
          </a:prstGeom>
          <a:solidFill>
            <a:srgbClr val="121E36"/>
          </a:solidFill>
          <a:ln w="12700" cap="flat" cmpd="sng" algn="ctr">
            <a:solidFill>
              <a:srgbClr val="475569"/>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6350000" y="2413000"/>
            <a:ext cx="3683000" cy="379591"/>
          </a:xfrm>
          <a:prstGeom prst="rect">
            <a:avLst/>
          </a:prstGeom>
          <a:noFill/>
        </p:spPr>
        <p:txBody>
          <a:bodyPr vert="horz" wrap="square" lIns="101600" tIns="50800" rIns="101600" bIns="50800" rtlCol="0">
            <a:spAutoFit/>
          </a:bodyPr>
          <a:lstStyle/>
          <a:p>
            <a:r>
              <a:rPr lang="en-US" b="1" smtClean="0">
                <a:solidFill>
                  <a:srgbClr val="F8FAFC"/>
                </a:solidFill>
                <a:latin typeface="Aptos Display"/>
              </a:rPr>
              <a:t>The design response</a:t>
            </a:r>
            <a:endParaRPr lang="en-US" b="1">
              <a:solidFill>
                <a:srgbClr val="F8FAFC"/>
              </a:solidFill>
              <a:latin typeface="Aptos Display"/>
            </a:endParaRPr>
          </a:p>
        </p:txBody>
      </p:sp>
      <p:sp>
        <p:nvSpPr>
          <p:cNvPr id="12" name="TextBox 11"/>
          <p:cNvSpPr txBox="1"/>
          <p:nvPr/>
        </p:nvSpPr>
        <p:spPr>
          <a:xfrm>
            <a:off x="6350000" y="2895600"/>
            <a:ext cx="4622800" cy="2318583"/>
          </a:xfrm>
          <a:prstGeom prst="rect">
            <a:avLst/>
          </a:prstGeom>
          <a:noFill/>
        </p:spPr>
        <p:txBody>
          <a:bodyPr vert="horz" wrap="square" lIns="101600" tIns="50800" rIns="101600" bIns="50800" rtlCol="0">
            <a:spAutoFit/>
          </a:bodyPr>
          <a:lstStyle/>
          <a:p>
            <a:r>
              <a:rPr lang="en-US" sz="1600" smtClean="0">
                <a:solidFill>
                  <a:srgbClr val="E2E8F0"/>
                </a:solidFill>
                <a:latin typeface="Aptos"/>
              </a:rPr>
              <a:t>- Retrieve first.</a:t>
            </a:r>
          </a:p>
          <a:p>
            <a:endParaRPr lang="en-US" sz="1600" smtClean="0">
              <a:solidFill>
                <a:srgbClr val="E2E8F0"/>
              </a:solidFill>
              <a:latin typeface="Aptos"/>
            </a:endParaRPr>
          </a:p>
          <a:p>
            <a:r>
              <a:rPr lang="en-US" sz="1600" smtClean="0">
                <a:solidFill>
                  <a:srgbClr val="E2E8F0"/>
                </a:solidFill>
                <a:latin typeface="Aptos"/>
              </a:rPr>
              <a:t>- Attach citations to factual claims.</a:t>
            </a:r>
          </a:p>
          <a:p>
            <a:endParaRPr lang="en-US" sz="1600" smtClean="0">
              <a:solidFill>
                <a:srgbClr val="E2E8F0"/>
              </a:solidFill>
              <a:latin typeface="Aptos"/>
            </a:endParaRPr>
          </a:p>
          <a:p>
            <a:r>
              <a:rPr lang="en-US" sz="1600" smtClean="0">
                <a:solidFill>
                  <a:srgbClr val="E2E8F0"/>
                </a:solidFill>
                <a:latin typeface="Aptos"/>
              </a:rPr>
              <a:t>- Let the user open the full statute from the conversation.</a:t>
            </a:r>
          </a:p>
          <a:p>
            <a:endParaRPr lang="en-US" sz="1600" smtClean="0">
              <a:solidFill>
                <a:srgbClr val="E2E8F0"/>
              </a:solidFill>
              <a:latin typeface="Aptos"/>
            </a:endParaRPr>
          </a:p>
          <a:p>
            <a:r>
              <a:rPr lang="en-US" sz="1600" smtClean="0">
                <a:solidFill>
                  <a:srgbClr val="E2E8F0"/>
                </a:solidFill>
                <a:latin typeface="Aptos"/>
              </a:rPr>
              <a:t>- Prefer authoritative domains when the agent has to leave the local corpus.</a:t>
            </a:r>
            <a:endParaRPr lang="en-US" sz="1600">
              <a:solidFill>
                <a:srgbClr val="E2E8F0"/>
              </a:solidFill>
              <a:latin typeface="Aptos"/>
            </a:endParaRPr>
          </a:p>
        </p:txBody>
      </p:sp>
      <p:sp>
        <p:nvSpPr>
          <p:cNvPr id="13" name="Rectangle 12"/>
          <p:cNvSpPr/>
          <p:nvPr/>
        </p:nvSpPr>
        <p:spPr>
          <a:xfrm>
            <a:off x="558800" y="5867400"/>
            <a:ext cx="10998200" cy="457200"/>
          </a:xfrm>
          <a:prstGeom prst="rect">
            <a:avLst/>
          </a:prstGeom>
          <a:solidFill>
            <a:srgbClr val="0D94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711200" y="5943600"/>
            <a:ext cx="10693400" cy="333425"/>
          </a:xfrm>
          <a:prstGeom prst="rect">
            <a:avLst/>
          </a:prstGeom>
          <a:noFill/>
        </p:spPr>
        <p:txBody>
          <a:bodyPr vert="horz" wrap="square" lIns="101600" tIns="50800" rIns="101600" bIns="50800" rtlCol="0">
            <a:spAutoFit/>
          </a:bodyPr>
          <a:lstStyle/>
          <a:p>
            <a:pPr algn="ctr"/>
            <a:r>
              <a:rPr lang="en-US" sz="1500" b="1" smtClean="0">
                <a:solidFill>
                  <a:srgbClr val="F0FDFA"/>
                </a:solidFill>
                <a:latin typeface="Aptos"/>
              </a:rPr>
              <a:t>Trust comes from visible source text, not from a polished answer alone.</a:t>
            </a:r>
            <a:endParaRPr lang="en-US" sz="1500" b="1">
              <a:solidFill>
                <a:srgbClr val="F0FDFA"/>
              </a:solidFill>
              <a:latin typeface="Aptos"/>
            </a:endParaRPr>
          </a:p>
        </p:txBody>
      </p:sp>
    </p:spTree>
    <p:extLst>
      <p:ext uri="{BB962C8B-B14F-4D97-AF65-F5344CB8AC3E}">
        <p14:creationId xmlns:p14="http://schemas.microsoft.com/office/powerpoint/2010/main" val="3337468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P spid="8" grpId="0"/>
      <p:bldP spid="9" grpId="0"/>
      <p:bldP spid="10" grpId="0" animBg="1"/>
      <p:bldP spid="11" grpId="0"/>
      <p:bldP spid="12" grpId="0"/>
      <p:bldP spid="13" grpId="0" animBg="1"/>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558800" y="431800"/>
            <a:ext cx="1422400" cy="101600"/>
          </a:xfrm>
          <a:prstGeom prst="rect">
            <a:avLst/>
          </a:prstGeom>
          <a:solidFill>
            <a:srgbClr val="2DD4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558800" y="584200"/>
            <a:ext cx="3302000" cy="271869"/>
          </a:xfrm>
          <a:prstGeom prst="rect">
            <a:avLst/>
          </a:prstGeom>
          <a:noFill/>
        </p:spPr>
        <p:txBody>
          <a:bodyPr vert="horz" wrap="square" lIns="101600" tIns="50800" rIns="101600" bIns="50800" rtlCol="0">
            <a:spAutoFit/>
          </a:bodyPr>
          <a:lstStyle/>
          <a:p>
            <a:r>
              <a:rPr lang="en-US" sz="1100" b="1" smtClean="0">
                <a:solidFill>
                  <a:srgbClr val="94A3B8"/>
                </a:solidFill>
                <a:latin typeface="Aptos"/>
              </a:rPr>
              <a:t>CAPABILITIES</a:t>
            </a:r>
            <a:endParaRPr lang="en-US" sz="1100" b="1">
              <a:solidFill>
                <a:srgbClr val="94A3B8"/>
              </a:solidFill>
              <a:latin typeface="Aptos"/>
            </a:endParaRPr>
          </a:p>
        </p:txBody>
      </p:sp>
      <p:sp>
        <p:nvSpPr>
          <p:cNvPr id="5" name="TextBox 4"/>
          <p:cNvSpPr txBox="1"/>
          <p:nvPr/>
        </p:nvSpPr>
        <p:spPr>
          <a:xfrm>
            <a:off x="558800" y="889000"/>
            <a:ext cx="9652000" cy="533479"/>
          </a:xfrm>
          <a:prstGeom prst="rect">
            <a:avLst/>
          </a:prstGeom>
          <a:noFill/>
        </p:spPr>
        <p:txBody>
          <a:bodyPr vert="horz" wrap="square" lIns="101600" tIns="50800" rIns="101600" bIns="50800" rtlCol="0">
            <a:spAutoFit/>
          </a:bodyPr>
          <a:lstStyle/>
          <a:p>
            <a:r>
              <a:rPr lang="en-US" sz="2800" b="1" smtClean="0">
                <a:solidFill>
                  <a:srgbClr val="F8FAFC"/>
                </a:solidFill>
                <a:latin typeface="Aptos Display"/>
              </a:rPr>
              <a:t>What Is Implemented Today</a:t>
            </a:r>
            <a:endParaRPr lang="en-US" sz="2800" b="1">
              <a:solidFill>
                <a:srgbClr val="F8FAFC"/>
              </a:solidFill>
              <a:latin typeface="Aptos Display"/>
            </a:endParaRPr>
          </a:p>
        </p:txBody>
      </p:sp>
      <p:cxnSp>
        <p:nvCxnSpPr>
          <p:cNvPr id="6" name="Straight Connector 5"/>
          <p:cNvCxnSpPr/>
          <p:nvPr/>
        </p:nvCxnSpPr>
        <p:spPr>
          <a:xfrm>
            <a:off x="558800" y="1676400"/>
            <a:ext cx="11074400" cy="0"/>
          </a:xfrm>
          <a:prstGeom prst="line">
            <a:avLst/>
          </a:prstGeom>
          <a:ln w="15875" cap="flat" cmpd="sng" algn="ctr">
            <a:solidFill>
              <a:srgbClr val="334155"/>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558800" y="2082800"/>
            <a:ext cx="3352800" cy="1676400"/>
          </a:xfrm>
          <a:prstGeom prst="roundRect">
            <a:avLst/>
          </a:prstGeom>
          <a:solidFill>
            <a:srgbClr val="1E293B"/>
          </a:solidFill>
          <a:ln w="19050" cap="flat" cmpd="sng" algn="ctr">
            <a:solidFill>
              <a:srgbClr val="2DD4BF"/>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787400" y="2311400"/>
            <a:ext cx="2895600" cy="364202"/>
          </a:xfrm>
          <a:prstGeom prst="rect">
            <a:avLst/>
          </a:prstGeom>
          <a:noFill/>
        </p:spPr>
        <p:txBody>
          <a:bodyPr vert="horz" wrap="square" lIns="101600" tIns="50800" rIns="101600" bIns="50800" rtlCol="0">
            <a:spAutoFit/>
          </a:bodyPr>
          <a:lstStyle/>
          <a:p>
            <a:r>
              <a:rPr lang="en-US" sz="1700" b="1" smtClean="0">
                <a:solidFill>
                  <a:srgbClr val="F8FAFC"/>
                </a:solidFill>
                <a:latin typeface="Aptos Display"/>
              </a:rPr>
              <a:t>Ingestion CLI</a:t>
            </a:r>
            <a:endParaRPr lang="en-US" sz="1700" b="1">
              <a:solidFill>
                <a:srgbClr val="F8FAFC"/>
              </a:solidFill>
              <a:latin typeface="Aptos Display"/>
            </a:endParaRPr>
          </a:p>
        </p:txBody>
      </p:sp>
      <p:sp>
        <p:nvSpPr>
          <p:cNvPr id="9" name="TextBox 8"/>
          <p:cNvSpPr txBox="1"/>
          <p:nvPr/>
        </p:nvSpPr>
        <p:spPr>
          <a:xfrm>
            <a:off x="787400" y="2717800"/>
            <a:ext cx="2895600" cy="964367"/>
          </a:xfrm>
          <a:prstGeom prst="rect">
            <a:avLst/>
          </a:prstGeom>
          <a:noFill/>
        </p:spPr>
        <p:txBody>
          <a:bodyPr vert="horz" wrap="square" lIns="101600" tIns="50800" rIns="101600" bIns="50800" rtlCol="0">
            <a:spAutoFit/>
          </a:bodyPr>
          <a:lstStyle/>
          <a:p>
            <a:r>
              <a:rPr lang="en-US" sz="1400" smtClean="0">
                <a:solidFill>
                  <a:srgbClr val="CBD5E1"/>
                </a:solidFill>
                <a:latin typeface="Aptos"/>
              </a:rPr>
              <a:t>CA, FL, NY, and WA ingestion entrypoints exist. CA has a real adapter, HTML parser, caching, and persistence path.</a:t>
            </a:r>
            <a:endParaRPr lang="en-US" sz="1400">
              <a:solidFill>
                <a:srgbClr val="CBD5E1"/>
              </a:solidFill>
              <a:latin typeface="Aptos"/>
            </a:endParaRPr>
          </a:p>
        </p:txBody>
      </p:sp>
      <p:sp>
        <p:nvSpPr>
          <p:cNvPr id="10" name="Rounded Rectangle 9"/>
          <p:cNvSpPr/>
          <p:nvPr/>
        </p:nvSpPr>
        <p:spPr>
          <a:xfrm>
            <a:off x="4140200" y="2082800"/>
            <a:ext cx="3352800" cy="1676400"/>
          </a:xfrm>
          <a:prstGeom prst="roundRect">
            <a:avLst/>
          </a:prstGeom>
          <a:solidFill>
            <a:srgbClr val="1E293B"/>
          </a:solidFill>
          <a:ln w="19050" cap="flat" cmpd="sng" algn="ctr">
            <a:solidFill>
              <a:srgbClr val="F59E0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4368800" y="2311400"/>
            <a:ext cx="2895600" cy="364202"/>
          </a:xfrm>
          <a:prstGeom prst="rect">
            <a:avLst/>
          </a:prstGeom>
          <a:noFill/>
        </p:spPr>
        <p:txBody>
          <a:bodyPr vert="horz" wrap="square" lIns="101600" tIns="50800" rIns="101600" bIns="50800" rtlCol="0">
            <a:spAutoFit/>
          </a:bodyPr>
          <a:lstStyle/>
          <a:p>
            <a:r>
              <a:rPr lang="en-US" sz="1700" b="1" smtClean="0">
                <a:solidFill>
                  <a:srgbClr val="F8FAFC"/>
                </a:solidFill>
                <a:latin typeface="Aptos Display"/>
              </a:rPr>
              <a:t>Storage layer</a:t>
            </a:r>
            <a:endParaRPr lang="en-US" sz="1700" b="1">
              <a:solidFill>
                <a:srgbClr val="F8FAFC"/>
              </a:solidFill>
              <a:latin typeface="Aptos Display"/>
            </a:endParaRPr>
          </a:p>
        </p:txBody>
      </p:sp>
      <p:sp>
        <p:nvSpPr>
          <p:cNvPr id="12" name="TextBox 11"/>
          <p:cNvSpPr txBox="1"/>
          <p:nvPr/>
        </p:nvSpPr>
        <p:spPr>
          <a:xfrm>
            <a:off x="4368800" y="2717800"/>
            <a:ext cx="2895600" cy="964367"/>
          </a:xfrm>
          <a:prstGeom prst="rect">
            <a:avLst/>
          </a:prstGeom>
          <a:noFill/>
        </p:spPr>
        <p:txBody>
          <a:bodyPr vert="horz" wrap="square" lIns="101600" tIns="50800" rIns="101600" bIns="50800" rtlCol="0">
            <a:spAutoFit/>
          </a:bodyPr>
          <a:lstStyle/>
          <a:p>
            <a:r>
              <a:rPr lang="en-US" sz="1400" smtClean="0">
                <a:solidFill>
                  <a:srgbClr val="CBD5E1"/>
                </a:solidFill>
                <a:latin typeface="Aptos"/>
              </a:rPr>
              <a:t>SQLite models cover statutes, factor tags, generic web documents, chat sessions, and chat messages.</a:t>
            </a:r>
            <a:endParaRPr lang="en-US" sz="1400">
              <a:solidFill>
                <a:srgbClr val="CBD5E1"/>
              </a:solidFill>
              <a:latin typeface="Aptos"/>
            </a:endParaRPr>
          </a:p>
        </p:txBody>
      </p:sp>
      <p:sp>
        <p:nvSpPr>
          <p:cNvPr id="13" name="Rounded Rectangle 12"/>
          <p:cNvSpPr/>
          <p:nvPr/>
        </p:nvSpPr>
        <p:spPr>
          <a:xfrm>
            <a:off x="7721600" y="2082800"/>
            <a:ext cx="3835400" cy="1676400"/>
          </a:xfrm>
          <a:prstGeom prst="roundRect">
            <a:avLst/>
          </a:prstGeom>
          <a:solidFill>
            <a:srgbClr val="1E293B"/>
          </a:solidFill>
          <a:ln w="19050" cap="flat" cmpd="sng" algn="ctr">
            <a:solidFill>
              <a:srgbClr val="60A5FA"/>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7950200" y="2311400"/>
            <a:ext cx="3378200" cy="364202"/>
          </a:xfrm>
          <a:prstGeom prst="rect">
            <a:avLst/>
          </a:prstGeom>
          <a:noFill/>
        </p:spPr>
        <p:txBody>
          <a:bodyPr vert="horz" wrap="square" lIns="101600" tIns="50800" rIns="101600" bIns="50800" rtlCol="0">
            <a:spAutoFit/>
          </a:bodyPr>
          <a:lstStyle/>
          <a:p>
            <a:r>
              <a:rPr lang="en-US" sz="1700" b="1" smtClean="0">
                <a:solidFill>
                  <a:srgbClr val="F8FAFC"/>
                </a:solidFill>
                <a:latin typeface="Aptos Display"/>
              </a:rPr>
              <a:t>Hybrid retrieval</a:t>
            </a:r>
            <a:endParaRPr lang="en-US" sz="1700" b="1">
              <a:solidFill>
                <a:srgbClr val="F8FAFC"/>
              </a:solidFill>
              <a:latin typeface="Aptos Display"/>
            </a:endParaRPr>
          </a:p>
        </p:txBody>
      </p:sp>
      <p:sp>
        <p:nvSpPr>
          <p:cNvPr id="15" name="TextBox 14"/>
          <p:cNvSpPr txBox="1"/>
          <p:nvPr/>
        </p:nvSpPr>
        <p:spPr>
          <a:xfrm>
            <a:off x="7950200" y="2717800"/>
            <a:ext cx="3378200" cy="748923"/>
          </a:xfrm>
          <a:prstGeom prst="rect">
            <a:avLst/>
          </a:prstGeom>
          <a:noFill/>
        </p:spPr>
        <p:txBody>
          <a:bodyPr vert="horz" wrap="square" lIns="101600" tIns="50800" rIns="101600" bIns="50800" rtlCol="0">
            <a:spAutoFit/>
          </a:bodyPr>
          <a:lstStyle/>
          <a:p>
            <a:r>
              <a:rPr lang="en-US" sz="1400" smtClean="0">
                <a:solidFill>
                  <a:srgbClr val="CBD5E1"/>
                </a:solidFill>
                <a:latin typeface="Aptos"/>
              </a:rPr>
              <a:t>Citation fast-path plus FTS5 keyword search, Chroma vector search, and reciprocal-rank fusion.</a:t>
            </a:r>
            <a:endParaRPr lang="en-US" sz="1400">
              <a:solidFill>
                <a:srgbClr val="CBD5E1"/>
              </a:solidFill>
              <a:latin typeface="Aptos"/>
            </a:endParaRPr>
          </a:p>
        </p:txBody>
      </p:sp>
      <p:sp>
        <p:nvSpPr>
          <p:cNvPr id="16" name="Rounded Rectangle 15"/>
          <p:cNvSpPr/>
          <p:nvPr/>
        </p:nvSpPr>
        <p:spPr>
          <a:xfrm>
            <a:off x="558800" y="4013200"/>
            <a:ext cx="5181600" cy="1676400"/>
          </a:xfrm>
          <a:prstGeom prst="roundRect">
            <a:avLst/>
          </a:prstGeom>
          <a:solidFill>
            <a:srgbClr val="1E293B"/>
          </a:solidFill>
          <a:ln w="19050" cap="flat" cmpd="sng" algn="ctr">
            <a:solidFill>
              <a:srgbClr val="F472B6"/>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787400" y="4241800"/>
            <a:ext cx="4724400" cy="364202"/>
          </a:xfrm>
          <a:prstGeom prst="rect">
            <a:avLst/>
          </a:prstGeom>
          <a:noFill/>
        </p:spPr>
        <p:txBody>
          <a:bodyPr vert="horz" wrap="square" lIns="101600" tIns="50800" rIns="101600" bIns="50800" rtlCol="0">
            <a:spAutoFit/>
          </a:bodyPr>
          <a:lstStyle/>
          <a:p>
            <a:r>
              <a:rPr lang="en-US" sz="1700" b="1" smtClean="0">
                <a:solidFill>
                  <a:srgbClr val="F8FAFC"/>
                </a:solidFill>
                <a:latin typeface="Aptos Display"/>
              </a:rPr>
              <a:t>Grounded chat agent</a:t>
            </a:r>
            <a:endParaRPr lang="en-US" sz="1700" b="1">
              <a:solidFill>
                <a:srgbClr val="F8FAFC"/>
              </a:solidFill>
              <a:latin typeface="Aptos Display"/>
            </a:endParaRPr>
          </a:p>
        </p:txBody>
      </p:sp>
      <p:sp>
        <p:nvSpPr>
          <p:cNvPr id="18" name="TextBox 17"/>
          <p:cNvSpPr txBox="1"/>
          <p:nvPr/>
        </p:nvSpPr>
        <p:spPr>
          <a:xfrm>
            <a:off x="787400" y="4648200"/>
            <a:ext cx="4724400" cy="748923"/>
          </a:xfrm>
          <a:prstGeom prst="rect">
            <a:avLst/>
          </a:prstGeom>
          <a:noFill/>
        </p:spPr>
        <p:txBody>
          <a:bodyPr vert="horz" wrap="square" lIns="101600" tIns="50800" rIns="101600" bIns="50800" rtlCol="0">
            <a:spAutoFit/>
          </a:bodyPr>
          <a:lstStyle/>
          <a:p>
            <a:r>
              <a:rPr lang="en-US" sz="1400" smtClean="0">
                <a:solidFill>
                  <a:srgbClr val="CBD5E1"/>
                </a:solidFill>
                <a:latin typeface="Aptos"/>
              </a:rPr>
              <a:t>Anthropic tool-use loop calls search_statutes, get_statute, and a domain-whitelisted web_search tool before answering.</a:t>
            </a:r>
            <a:endParaRPr lang="en-US" sz="1400">
              <a:solidFill>
                <a:srgbClr val="CBD5E1"/>
              </a:solidFill>
              <a:latin typeface="Aptos"/>
            </a:endParaRPr>
          </a:p>
        </p:txBody>
      </p:sp>
      <p:sp>
        <p:nvSpPr>
          <p:cNvPr id="19" name="Rounded Rectangle 18"/>
          <p:cNvSpPr/>
          <p:nvPr/>
        </p:nvSpPr>
        <p:spPr>
          <a:xfrm>
            <a:off x="5969000" y="4013200"/>
            <a:ext cx="5588000" cy="1676400"/>
          </a:xfrm>
          <a:prstGeom prst="roundRect">
            <a:avLst/>
          </a:prstGeom>
          <a:solidFill>
            <a:srgbClr val="1E293B"/>
          </a:solidFill>
          <a:ln w="19050" cap="flat" cmpd="sng" algn="ctr">
            <a:solidFill>
              <a:srgbClr val="FB923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6197600" y="4241800"/>
            <a:ext cx="5130800" cy="364202"/>
          </a:xfrm>
          <a:prstGeom prst="rect">
            <a:avLst/>
          </a:prstGeom>
          <a:noFill/>
        </p:spPr>
        <p:txBody>
          <a:bodyPr vert="horz" wrap="square" lIns="101600" tIns="50800" rIns="101600" bIns="50800" rtlCol="0">
            <a:spAutoFit/>
          </a:bodyPr>
          <a:lstStyle/>
          <a:p>
            <a:r>
              <a:rPr lang="en-US" sz="1700" b="1" smtClean="0">
                <a:solidFill>
                  <a:srgbClr val="F8FAFC"/>
                </a:solidFill>
                <a:latin typeface="Aptos Display"/>
              </a:rPr>
              <a:t>Frontend experience</a:t>
            </a:r>
            <a:endParaRPr lang="en-US" sz="1700" b="1">
              <a:solidFill>
                <a:srgbClr val="F8FAFC"/>
              </a:solidFill>
              <a:latin typeface="Aptos Display"/>
            </a:endParaRPr>
          </a:p>
        </p:txBody>
      </p:sp>
      <p:sp>
        <p:nvSpPr>
          <p:cNvPr id="21" name="TextBox 20"/>
          <p:cNvSpPr txBox="1"/>
          <p:nvPr/>
        </p:nvSpPr>
        <p:spPr>
          <a:xfrm>
            <a:off x="6197600" y="4648200"/>
            <a:ext cx="5130800" cy="533479"/>
          </a:xfrm>
          <a:prstGeom prst="rect">
            <a:avLst/>
          </a:prstGeom>
          <a:noFill/>
        </p:spPr>
        <p:txBody>
          <a:bodyPr vert="horz" wrap="square" lIns="101600" tIns="50800" rIns="101600" bIns="50800" rtlCol="0">
            <a:spAutoFit/>
          </a:bodyPr>
          <a:lstStyle/>
          <a:p>
            <a:r>
              <a:rPr lang="en-US" sz="1400" smtClean="0">
                <a:solidFill>
                  <a:srgbClr val="CBD5E1"/>
                </a:solidFill>
                <a:latin typeface="Aptos"/>
              </a:rPr>
              <a:t>The Next.js app now centers on persistent chats, inline result tables, and a statute modal for full source inspection.</a:t>
            </a:r>
            <a:endParaRPr lang="en-US" sz="1400">
              <a:solidFill>
                <a:srgbClr val="CBD5E1"/>
              </a:solidFill>
              <a:latin typeface="Aptos"/>
            </a:endParaRPr>
          </a:p>
        </p:txBody>
      </p:sp>
      <p:sp>
        <p:nvSpPr>
          <p:cNvPr id="22" name="TextBox 21"/>
          <p:cNvSpPr txBox="1"/>
          <p:nvPr/>
        </p:nvSpPr>
        <p:spPr>
          <a:xfrm>
            <a:off x="558800" y="5943600"/>
            <a:ext cx="10998200" cy="302647"/>
          </a:xfrm>
          <a:prstGeom prst="rect">
            <a:avLst/>
          </a:prstGeom>
          <a:noFill/>
        </p:spPr>
        <p:txBody>
          <a:bodyPr vert="horz" wrap="square" lIns="101600" tIns="50800" rIns="101600" bIns="50800" rtlCol="0">
            <a:spAutoFit/>
          </a:bodyPr>
          <a:lstStyle/>
          <a:p>
            <a:r>
              <a:rPr lang="en-US" sz="1300" smtClean="0">
                <a:solidFill>
                  <a:srgbClr val="94A3B8"/>
                </a:solidFill>
                <a:latin typeface="Aptos"/>
              </a:rPr>
              <a:t>Important honesty: OpenClaw manifest files are still placeholders. The real working agent currently lives under backend/agent.</a:t>
            </a:r>
            <a:endParaRPr lang="en-US" sz="1300">
              <a:solidFill>
                <a:srgbClr val="94A3B8"/>
              </a:solidFill>
              <a:latin typeface="Aptos"/>
            </a:endParaRPr>
          </a:p>
        </p:txBody>
      </p:sp>
    </p:spTree>
    <p:extLst>
      <p:ext uri="{BB962C8B-B14F-4D97-AF65-F5344CB8AC3E}">
        <p14:creationId xmlns:p14="http://schemas.microsoft.com/office/powerpoint/2010/main" val="253659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grpId="0" nodeType="after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grpId="0" nodeType="afterEffect">
                                  <p:stCondLst>
                                    <p:cond delay="0"/>
                                  </p:stCondLst>
                                  <p:childTnLst>
                                    <p:set>
                                      <p:cBhvr>
                                        <p:cTn id="55" dur="1" fill="hold">
                                          <p:stCondLst>
                                            <p:cond delay="0"/>
                                          </p:stCondLst>
                                        </p:cTn>
                                        <p:tgtEl>
                                          <p:spTgt spid="21"/>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P spid="8" grpId="0"/>
      <p:bldP spid="9" grpId="0"/>
      <p:bldP spid="10" grpId="0" animBg="1"/>
      <p:bldP spid="11" grpId="0"/>
      <p:bldP spid="12" grpId="0"/>
      <p:bldP spid="13" grpId="0" animBg="1"/>
      <p:bldP spid="14" grpId="0"/>
      <p:bldP spid="15" grpId="0"/>
      <p:bldP spid="16" grpId="0" animBg="1"/>
      <p:bldP spid="17" grpId="0"/>
      <p:bldP spid="18" grpId="0"/>
      <p:bldP spid="19" grpId="0" animBg="1"/>
      <p:bldP spid="20" grpId="0"/>
      <p:bldP spid="21"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558800" y="431800"/>
            <a:ext cx="1422400" cy="101600"/>
          </a:xfrm>
          <a:prstGeom prst="rect">
            <a:avLst/>
          </a:prstGeom>
          <a:solidFill>
            <a:srgbClr val="2DD4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558800" y="584200"/>
            <a:ext cx="3302000" cy="271869"/>
          </a:xfrm>
          <a:prstGeom prst="rect">
            <a:avLst/>
          </a:prstGeom>
          <a:noFill/>
        </p:spPr>
        <p:txBody>
          <a:bodyPr vert="horz" wrap="square" lIns="101600" tIns="50800" rIns="101600" bIns="50800" rtlCol="0">
            <a:spAutoFit/>
          </a:bodyPr>
          <a:lstStyle/>
          <a:p>
            <a:r>
              <a:rPr lang="en-US" sz="1100" b="1" smtClean="0">
                <a:solidFill>
                  <a:srgbClr val="94A3B8"/>
                </a:solidFill>
                <a:latin typeface="Aptos"/>
              </a:rPr>
              <a:t>SYSTEM FLOW</a:t>
            </a:r>
            <a:endParaRPr lang="en-US" sz="1100" b="1">
              <a:solidFill>
                <a:srgbClr val="94A3B8"/>
              </a:solidFill>
              <a:latin typeface="Aptos"/>
            </a:endParaRPr>
          </a:p>
        </p:txBody>
      </p:sp>
      <p:sp>
        <p:nvSpPr>
          <p:cNvPr id="5" name="TextBox 4"/>
          <p:cNvSpPr txBox="1"/>
          <p:nvPr/>
        </p:nvSpPr>
        <p:spPr>
          <a:xfrm>
            <a:off x="558800" y="889000"/>
            <a:ext cx="9652000" cy="533479"/>
          </a:xfrm>
          <a:prstGeom prst="rect">
            <a:avLst/>
          </a:prstGeom>
          <a:noFill/>
        </p:spPr>
        <p:txBody>
          <a:bodyPr vert="horz" wrap="square" lIns="101600" tIns="50800" rIns="101600" bIns="50800" rtlCol="0">
            <a:spAutoFit/>
          </a:bodyPr>
          <a:lstStyle/>
          <a:p>
            <a:r>
              <a:rPr lang="en-US" sz="2800" b="1" smtClean="0">
                <a:solidFill>
                  <a:srgbClr val="F8FAFC"/>
                </a:solidFill>
                <a:latin typeface="Aptos Display"/>
              </a:rPr>
              <a:t>How The Implemented Loop Works</a:t>
            </a:r>
            <a:endParaRPr lang="en-US" sz="2800" b="1">
              <a:solidFill>
                <a:srgbClr val="F8FAFC"/>
              </a:solidFill>
              <a:latin typeface="Aptos Display"/>
            </a:endParaRPr>
          </a:p>
        </p:txBody>
      </p:sp>
      <p:cxnSp>
        <p:nvCxnSpPr>
          <p:cNvPr id="6" name="Straight Connector 5"/>
          <p:cNvCxnSpPr/>
          <p:nvPr/>
        </p:nvCxnSpPr>
        <p:spPr>
          <a:xfrm>
            <a:off x="558800" y="1676400"/>
            <a:ext cx="11074400" cy="0"/>
          </a:xfrm>
          <a:prstGeom prst="line">
            <a:avLst/>
          </a:prstGeom>
          <a:ln w="15875" cap="flat" cmpd="sng" algn="ctr">
            <a:solidFill>
              <a:srgbClr val="334155"/>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508000" y="2717800"/>
            <a:ext cx="1727200" cy="1778000"/>
          </a:xfrm>
          <a:prstGeom prst="roundRect">
            <a:avLst/>
          </a:prstGeom>
          <a:solidFill>
            <a:srgbClr val="121E36"/>
          </a:solidFill>
          <a:ln w="17780" cap="flat" cmpd="sng" algn="ctr">
            <a:solidFill>
              <a:srgbClr val="2DD4BF"/>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35000" y="2921000"/>
            <a:ext cx="1473200" cy="333425"/>
          </a:xfrm>
          <a:prstGeom prst="rect">
            <a:avLst/>
          </a:prstGeom>
          <a:noFill/>
        </p:spPr>
        <p:txBody>
          <a:bodyPr vert="horz" wrap="square" lIns="101600" tIns="50800" rIns="101600" bIns="50800" rtlCol="0">
            <a:spAutoFit/>
          </a:bodyPr>
          <a:lstStyle/>
          <a:p>
            <a:pPr algn="ctr"/>
            <a:r>
              <a:rPr lang="en-US" sz="1500" b="1" smtClean="0">
                <a:solidFill>
                  <a:srgbClr val="F8FAFC"/>
                </a:solidFill>
                <a:latin typeface="Aptos Display"/>
              </a:rPr>
              <a:t>1. Ingest</a:t>
            </a:r>
            <a:endParaRPr lang="en-US" sz="1500" b="1">
              <a:solidFill>
                <a:srgbClr val="F8FAFC"/>
              </a:solidFill>
              <a:latin typeface="Aptos Display"/>
            </a:endParaRPr>
          </a:p>
        </p:txBody>
      </p:sp>
      <p:sp>
        <p:nvSpPr>
          <p:cNvPr id="9" name="TextBox 8"/>
          <p:cNvSpPr txBox="1"/>
          <p:nvPr/>
        </p:nvSpPr>
        <p:spPr>
          <a:xfrm>
            <a:off x="635000" y="3479800"/>
            <a:ext cx="1473200" cy="656590"/>
          </a:xfrm>
          <a:prstGeom prst="rect">
            <a:avLst/>
          </a:prstGeom>
          <a:noFill/>
        </p:spPr>
        <p:txBody>
          <a:bodyPr vert="horz" wrap="square" lIns="101600" tIns="50800" rIns="101600" bIns="50800" rtlCol="0">
            <a:spAutoFit/>
          </a:bodyPr>
          <a:lstStyle/>
          <a:p>
            <a:pPr algn="ctr"/>
            <a:r>
              <a:rPr lang="en-US" sz="1200" smtClean="0">
                <a:solidFill>
                  <a:srgbClr val="CBD5E1"/>
                </a:solidFill>
                <a:latin typeface="Aptos"/>
              </a:rPr>
              <a:t>Fetch official statute HTML and cache it on disk.</a:t>
            </a:r>
            <a:endParaRPr lang="en-US" sz="1200">
              <a:solidFill>
                <a:srgbClr val="CBD5E1"/>
              </a:solidFill>
              <a:latin typeface="Aptos"/>
            </a:endParaRPr>
          </a:p>
        </p:txBody>
      </p:sp>
      <p:sp>
        <p:nvSpPr>
          <p:cNvPr id="10" name="Rounded Rectangle 9"/>
          <p:cNvSpPr/>
          <p:nvPr/>
        </p:nvSpPr>
        <p:spPr>
          <a:xfrm>
            <a:off x="2895600" y="2717800"/>
            <a:ext cx="1727200" cy="1778000"/>
          </a:xfrm>
          <a:prstGeom prst="roundRect">
            <a:avLst/>
          </a:prstGeom>
          <a:solidFill>
            <a:srgbClr val="121E36"/>
          </a:solidFill>
          <a:ln w="17780" cap="flat" cmpd="sng" algn="ctr">
            <a:solidFill>
              <a:srgbClr val="F59E0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3022600" y="2921000"/>
            <a:ext cx="1473200" cy="333425"/>
          </a:xfrm>
          <a:prstGeom prst="rect">
            <a:avLst/>
          </a:prstGeom>
          <a:noFill/>
        </p:spPr>
        <p:txBody>
          <a:bodyPr vert="horz" wrap="square" lIns="101600" tIns="50800" rIns="101600" bIns="50800" rtlCol="0">
            <a:spAutoFit/>
          </a:bodyPr>
          <a:lstStyle/>
          <a:p>
            <a:pPr algn="ctr"/>
            <a:r>
              <a:rPr lang="en-US" sz="1500" b="1" smtClean="0">
                <a:solidFill>
                  <a:srgbClr val="F8FAFC"/>
                </a:solidFill>
                <a:latin typeface="Aptos Display"/>
              </a:rPr>
              <a:t>2. Persist</a:t>
            </a:r>
            <a:endParaRPr lang="en-US" sz="1500" b="1">
              <a:solidFill>
                <a:srgbClr val="F8FAFC"/>
              </a:solidFill>
              <a:latin typeface="Aptos Display"/>
            </a:endParaRPr>
          </a:p>
        </p:txBody>
      </p:sp>
      <p:sp>
        <p:nvSpPr>
          <p:cNvPr id="12" name="TextBox 11"/>
          <p:cNvSpPr txBox="1"/>
          <p:nvPr/>
        </p:nvSpPr>
        <p:spPr>
          <a:xfrm>
            <a:off x="3022600" y="3479800"/>
            <a:ext cx="1473200" cy="841256"/>
          </a:xfrm>
          <a:prstGeom prst="rect">
            <a:avLst/>
          </a:prstGeom>
          <a:noFill/>
        </p:spPr>
        <p:txBody>
          <a:bodyPr vert="horz" wrap="square" lIns="101600" tIns="50800" rIns="101600" bIns="50800" rtlCol="0">
            <a:spAutoFit/>
          </a:bodyPr>
          <a:lstStyle/>
          <a:p>
            <a:pPr algn="ctr"/>
            <a:r>
              <a:rPr lang="en-US" sz="1200" smtClean="0">
                <a:solidFill>
                  <a:srgbClr val="CBD5E1"/>
                </a:solidFill>
                <a:latin typeface="Aptos"/>
              </a:rPr>
              <a:t>Parse sections and store statutes plus factor tags in SQLite.</a:t>
            </a:r>
            <a:endParaRPr lang="en-US" sz="1200">
              <a:solidFill>
                <a:srgbClr val="CBD5E1"/>
              </a:solidFill>
              <a:latin typeface="Aptos"/>
            </a:endParaRPr>
          </a:p>
        </p:txBody>
      </p:sp>
      <p:sp>
        <p:nvSpPr>
          <p:cNvPr id="13" name="Rounded Rectangle 12"/>
          <p:cNvSpPr/>
          <p:nvPr/>
        </p:nvSpPr>
        <p:spPr>
          <a:xfrm>
            <a:off x="5283200" y="2717800"/>
            <a:ext cx="1727200" cy="1778000"/>
          </a:xfrm>
          <a:prstGeom prst="roundRect">
            <a:avLst/>
          </a:prstGeom>
          <a:solidFill>
            <a:srgbClr val="121E36"/>
          </a:solidFill>
          <a:ln w="17780" cap="flat" cmpd="sng" algn="ctr">
            <a:solidFill>
              <a:srgbClr val="60A5FA"/>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5410200" y="2921000"/>
            <a:ext cx="1473200" cy="333425"/>
          </a:xfrm>
          <a:prstGeom prst="rect">
            <a:avLst/>
          </a:prstGeom>
          <a:noFill/>
        </p:spPr>
        <p:txBody>
          <a:bodyPr vert="horz" wrap="square" lIns="101600" tIns="50800" rIns="101600" bIns="50800" rtlCol="0">
            <a:spAutoFit/>
          </a:bodyPr>
          <a:lstStyle/>
          <a:p>
            <a:pPr algn="ctr"/>
            <a:r>
              <a:rPr lang="en-US" sz="1500" b="1" smtClean="0">
                <a:solidFill>
                  <a:srgbClr val="F8FAFC"/>
                </a:solidFill>
                <a:latin typeface="Aptos Display"/>
              </a:rPr>
              <a:t>3. Index</a:t>
            </a:r>
            <a:endParaRPr lang="en-US" sz="1500" b="1">
              <a:solidFill>
                <a:srgbClr val="F8FAFC"/>
              </a:solidFill>
              <a:latin typeface="Aptos Display"/>
            </a:endParaRPr>
          </a:p>
        </p:txBody>
      </p:sp>
      <p:sp>
        <p:nvSpPr>
          <p:cNvPr id="15" name="TextBox 14"/>
          <p:cNvSpPr txBox="1"/>
          <p:nvPr/>
        </p:nvSpPr>
        <p:spPr>
          <a:xfrm>
            <a:off x="5410200" y="3479800"/>
            <a:ext cx="1473200" cy="841256"/>
          </a:xfrm>
          <a:prstGeom prst="rect">
            <a:avLst/>
          </a:prstGeom>
          <a:noFill/>
        </p:spPr>
        <p:txBody>
          <a:bodyPr vert="horz" wrap="square" lIns="101600" tIns="50800" rIns="101600" bIns="50800" rtlCol="0">
            <a:spAutoFit/>
          </a:bodyPr>
          <a:lstStyle/>
          <a:p>
            <a:pPr algn="ctr"/>
            <a:r>
              <a:rPr lang="en-US" sz="1200" smtClean="0">
                <a:solidFill>
                  <a:srgbClr val="CBD5E1"/>
                </a:solidFill>
                <a:latin typeface="Aptos"/>
              </a:rPr>
              <a:t>Build vector and keyword views over the statute corpus.</a:t>
            </a:r>
            <a:endParaRPr lang="en-US" sz="1200">
              <a:solidFill>
                <a:srgbClr val="CBD5E1"/>
              </a:solidFill>
              <a:latin typeface="Aptos"/>
            </a:endParaRPr>
          </a:p>
        </p:txBody>
      </p:sp>
      <p:sp>
        <p:nvSpPr>
          <p:cNvPr id="16" name="Rounded Rectangle 15"/>
          <p:cNvSpPr/>
          <p:nvPr/>
        </p:nvSpPr>
        <p:spPr>
          <a:xfrm>
            <a:off x="7670800" y="2717800"/>
            <a:ext cx="1727200" cy="1778000"/>
          </a:xfrm>
          <a:prstGeom prst="roundRect">
            <a:avLst/>
          </a:prstGeom>
          <a:solidFill>
            <a:srgbClr val="121E36"/>
          </a:solidFill>
          <a:ln w="17780" cap="flat" cmpd="sng" algn="ctr">
            <a:solidFill>
              <a:srgbClr val="F472B6"/>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7797800" y="2921000"/>
            <a:ext cx="1473200" cy="333425"/>
          </a:xfrm>
          <a:prstGeom prst="rect">
            <a:avLst/>
          </a:prstGeom>
          <a:noFill/>
        </p:spPr>
        <p:txBody>
          <a:bodyPr vert="horz" wrap="square" lIns="101600" tIns="50800" rIns="101600" bIns="50800" rtlCol="0">
            <a:spAutoFit/>
          </a:bodyPr>
          <a:lstStyle/>
          <a:p>
            <a:pPr algn="ctr"/>
            <a:r>
              <a:rPr lang="en-US" sz="1500" b="1" smtClean="0">
                <a:solidFill>
                  <a:srgbClr val="F8FAFC"/>
                </a:solidFill>
                <a:latin typeface="Aptos Display"/>
              </a:rPr>
              <a:t>4. Retrieve</a:t>
            </a:r>
            <a:endParaRPr lang="en-US" sz="1500" b="1">
              <a:solidFill>
                <a:srgbClr val="F8FAFC"/>
              </a:solidFill>
              <a:latin typeface="Aptos Display"/>
            </a:endParaRPr>
          </a:p>
        </p:txBody>
      </p:sp>
      <p:sp>
        <p:nvSpPr>
          <p:cNvPr id="18" name="TextBox 17"/>
          <p:cNvSpPr txBox="1"/>
          <p:nvPr/>
        </p:nvSpPr>
        <p:spPr>
          <a:xfrm>
            <a:off x="7797800" y="3479800"/>
            <a:ext cx="1473200" cy="841256"/>
          </a:xfrm>
          <a:prstGeom prst="rect">
            <a:avLst/>
          </a:prstGeom>
          <a:noFill/>
        </p:spPr>
        <p:txBody>
          <a:bodyPr vert="horz" wrap="square" lIns="101600" tIns="50800" rIns="101600" bIns="50800" rtlCol="0">
            <a:spAutoFit/>
          </a:bodyPr>
          <a:lstStyle/>
          <a:p>
            <a:pPr algn="ctr"/>
            <a:r>
              <a:rPr lang="en-US" sz="1200" smtClean="0">
                <a:solidFill>
                  <a:srgbClr val="CBD5E1"/>
                </a:solidFill>
                <a:latin typeface="Aptos"/>
              </a:rPr>
              <a:t>Agent searches locally before it writes any factual answer.</a:t>
            </a:r>
            <a:endParaRPr lang="en-US" sz="1200">
              <a:solidFill>
                <a:srgbClr val="CBD5E1"/>
              </a:solidFill>
              <a:latin typeface="Aptos"/>
            </a:endParaRPr>
          </a:p>
        </p:txBody>
      </p:sp>
      <p:sp>
        <p:nvSpPr>
          <p:cNvPr id="19" name="Rounded Rectangle 18"/>
          <p:cNvSpPr/>
          <p:nvPr/>
        </p:nvSpPr>
        <p:spPr>
          <a:xfrm>
            <a:off x="10058400" y="2717800"/>
            <a:ext cx="1727200" cy="1778000"/>
          </a:xfrm>
          <a:prstGeom prst="roundRect">
            <a:avLst/>
          </a:prstGeom>
          <a:solidFill>
            <a:srgbClr val="121E36"/>
          </a:solidFill>
          <a:ln w="17780" cap="flat" cmpd="sng" algn="ctr">
            <a:solidFill>
              <a:srgbClr val="FB923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10185400" y="2921000"/>
            <a:ext cx="1473200" cy="333425"/>
          </a:xfrm>
          <a:prstGeom prst="rect">
            <a:avLst/>
          </a:prstGeom>
          <a:noFill/>
        </p:spPr>
        <p:txBody>
          <a:bodyPr vert="horz" wrap="square" lIns="101600" tIns="50800" rIns="101600" bIns="50800" rtlCol="0">
            <a:spAutoFit/>
          </a:bodyPr>
          <a:lstStyle/>
          <a:p>
            <a:pPr algn="ctr"/>
            <a:r>
              <a:rPr lang="en-US" sz="1500" b="1" smtClean="0">
                <a:solidFill>
                  <a:srgbClr val="F8FAFC"/>
                </a:solidFill>
                <a:latin typeface="Aptos Display"/>
              </a:rPr>
              <a:t>5. Inspect</a:t>
            </a:r>
            <a:endParaRPr lang="en-US" sz="1500" b="1">
              <a:solidFill>
                <a:srgbClr val="F8FAFC"/>
              </a:solidFill>
              <a:latin typeface="Aptos Display"/>
            </a:endParaRPr>
          </a:p>
        </p:txBody>
      </p:sp>
      <p:sp>
        <p:nvSpPr>
          <p:cNvPr id="21" name="TextBox 20"/>
          <p:cNvSpPr txBox="1"/>
          <p:nvPr/>
        </p:nvSpPr>
        <p:spPr>
          <a:xfrm>
            <a:off x="10185400" y="3479800"/>
            <a:ext cx="1473200" cy="841256"/>
          </a:xfrm>
          <a:prstGeom prst="rect">
            <a:avLst/>
          </a:prstGeom>
          <a:noFill/>
        </p:spPr>
        <p:txBody>
          <a:bodyPr vert="horz" wrap="square" lIns="101600" tIns="50800" rIns="101600" bIns="50800" rtlCol="0">
            <a:spAutoFit/>
          </a:bodyPr>
          <a:lstStyle/>
          <a:p>
            <a:pPr algn="ctr"/>
            <a:r>
              <a:rPr lang="en-US" sz="1200" smtClean="0">
                <a:solidFill>
                  <a:srgbClr val="CBD5E1"/>
                </a:solidFill>
                <a:latin typeface="Aptos"/>
              </a:rPr>
              <a:t>Frontend shows cards inline and opens the full source modal.</a:t>
            </a:r>
            <a:endParaRPr lang="en-US" sz="1200">
              <a:solidFill>
                <a:srgbClr val="CBD5E1"/>
              </a:solidFill>
              <a:latin typeface="Aptos"/>
            </a:endParaRPr>
          </a:p>
        </p:txBody>
      </p:sp>
      <p:cxnSp>
        <p:nvCxnSpPr>
          <p:cNvPr id="22" name="Straight Connector 21"/>
          <p:cNvCxnSpPr/>
          <p:nvPr/>
        </p:nvCxnSpPr>
        <p:spPr>
          <a:xfrm>
            <a:off x="2311400" y="3606800"/>
            <a:ext cx="508000" cy="0"/>
          </a:xfrm>
          <a:prstGeom prst="line">
            <a:avLst/>
          </a:prstGeom>
          <a:ln w="25400" cap="flat" cmpd="sng" algn="ctr">
            <a:solidFill>
              <a:srgbClr val="47556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Right Arrow 22"/>
          <p:cNvSpPr/>
          <p:nvPr/>
        </p:nvSpPr>
        <p:spPr>
          <a:xfrm>
            <a:off x="2692400" y="3517900"/>
            <a:ext cx="127000" cy="177800"/>
          </a:xfrm>
          <a:prstGeom prst="rightArrow">
            <a:avLst/>
          </a:prstGeom>
          <a:solidFill>
            <a:srgbClr val="4755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p:cNvCxnSpPr/>
          <p:nvPr/>
        </p:nvCxnSpPr>
        <p:spPr>
          <a:xfrm>
            <a:off x="4699000" y="3606800"/>
            <a:ext cx="508000" cy="0"/>
          </a:xfrm>
          <a:prstGeom prst="line">
            <a:avLst/>
          </a:prstGeom>
          <a:ln w="25400" cap="flat" cmpd="sng" algn="ctr">
            <a:solidFill>
              <a:srgbClr val="47556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Right Arrow 24"/>
          <p:cNvSpPr/>
          <p:nvPr/>
        </p:nvSpPr>
        <p:spPr>
          <a:xfrm>
            <a:off x="5080000" y="3517900"/>
            <a:ext cx="127000" cy="177800"/>
          </a:xfrm>
          <a:prstGeom prst="rightArrow">
            <a:avLst/>
          </a:prstGeom>
          <a:solidFill>
            <a:srgbClr val="4755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p:cNvCxnSpPr/>
          <p:nvPr/>
        </p:nvCxnSpPr>
        <p:spPr>
          <a:xfrm>
            <a:off x="7086600" y="3606800"/>
            <a:ext cx="508000" cy="0"/>
          </a:xfrm>
          <a:prstGeom prst="line">
            <a:avLst/>
          </a:prstGeom>
          <a:ln w="25400" cap="flat" cmpd="sng" algn="ctr">
            <a:solidFill>
              <a:srgbClr val="47556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Right Arrow 26"/>
          <p:cNvSpPr/>
          <p:nvPr/>
        </p:nvSpPr>
        <p:spPr>
          <a:xfrm>
            <a:off x="7467600" y="3517900"/>
            <a:ext cx="127000" cy="177800"/>
          </a:xfrm>
          <a:prstGeom prst="rightArrow">
            <a:avLst/>
          </a:prstGeom>
          <a:solidFill>
            <a:srgbClr val="4755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p:cNvCxnSpPr/>
          <p:nvPr/>
        </p:nvCxnSpPr>
        <p:spPr>
          <a:xfrm>
            <a:off x="9474200" y="3606800"/>
            <a:ext cx="508000" cy="0"/>
          </a:xfrm>
          <a:prstGeom prst="line">
            <a:avLst/>
          </a:prstGeom>
          <a:ln w="25400" cap="flat" cmpd="sng" algn="ctr">
            <a:solidFill>
              <a:srgbClr val="47556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Right Arrow 28"/>
          <p:cNvSpPr/>
          <p:nvPr/>
        </p:nvSpPr>
        <p:spPr>
          <a:xfrm>
            <a:off x="9855200" y="3517900"/>
            <a:ext cx="127000" cy="177800"/>
          </a:xfrm>
          <a:prstGeom prst="rightArrow">
            <a:avLst/>
          </a:prstGeom>
          <a:solidFill>
            <a:srgbClr val="47556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ed Rectangle 29"/>
          <p:cNvSpPr/>
          <p:nvPr/>
        </p:nvSpPr>
        <p:spPr>
          <a:xfrm>
            <a:off x="1727200" y="4953000"/>
            <a:ext cx="8737600" cy="939800"/>
          </a:xfrm>
          <a:prstGeom prst="roundRect">
            <a:avLst/>
          </a:prstGeom>
          <a:solidFill>
            <a:srgbClr val="1E293B"/>
          </a:solidFill>
          <a:ln w="12700" cap="flat" cmpd="sng" algn="ctr">
            <a:solidFill>
              <a:srgbClr val="475569"/>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1955800" y="5168900"/>
            <a:ext cx="8280400" cy="564257"/>
          </a:xfrm>
          <a:prstGeom prst="rect">
            <a:avLst/>
          </a:prstGeom>
          <a:noFill/>
        </p:spPr>
        <p:txBody>
          <a:bodyPr vert="horz" wrap="square" lIns="101600" tIns="50800" rIns="101600" bIns="50800" rtlCol="0">
            <a:spAutoFit/>
          </a:bodyPr>
          <a:lstStyle/>
          <a:p>
            <a:pPr algn="ctr"/>
            <a:r>
              <a:rPr lang="en-US" sz="1500" smtClean="0">
                <a:solidFill>
                  <a:srgbClr val="E2E8F0"/>
                </a:solidFill>
                <a:latin typeface="Aptos"/>
              </a:rPr>
              <a:t>Fast path: citation-shaped queries can skip semantic retrieval entirely. parse_citation turns inputs like 23152(a) into a stable slug before lookup.</a:t>
            </a:r>
            <a:endParaRPr lang="en-US" sz="1500">
              <a:solidFill>
                <a:srgbClr val="E2E8F0"/>
              </a:solidFill>
              <a:latin typeface="Aptos"/>
            </a:endParaRPr>
          </a:p>
        </p:txBody>
      </p:sp>
    </p:spTree>
    <p:extLst>
      <p:ext uri="{BB962C8B-B14F-4D97-AF65-F5344CB8AC3E}">
        <p14:creationId xmlns:p14="http://schemas.microsoft.com/office/powerpoint/2010/main" val="2760875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grpId="0" nodeType="after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grpId="0" nodeType="afterEffect">
                                  <p:stCondLst>
                                    <p:cond delay="0"/>
                                  </p:stCondLst>
                                  <p:childTnLst>
                                    <p:set>
                                      <p:cBhvr>
                                        <p:cTn id="55" dur="1" fill="hold">
                                          <p:stCondLst>
                                            <p:cond delay="0"/>
                                          </p:stCondLst>
                                        </p:cTn>
                                        <p:tgtEl>
                                          <p:spTgt spid="21"/>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nodeType="after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par>
                          <p:cTn id="59" fill="hold">
                            <p:stCondLst>
                              <p:cond delay="0"/>
                            </p:stCondLst>
                            <p:childTnLst>
                              <p:par>
                                <p:cTn id="60" presetID="1" presetClass="entr" presetSubtype="0" fill="hold" grpId="0" nodeType="afterEffect">
                                  <p:stCondLst>
                                    <p:cond delay="0"/>
                                  </p:stCondLst>
                                  <p:childTnLst>
                                    <p:set>
                                      <p:cBhvr>
                                        <p:cTn id="61" dur="1" fill="hold">
                                          <p:stCondLst>
                                            <p:cond delay="0"/>
                                          </p:stCondLst>
                                        </p:cTn>
                                        <p:tgtEl>
                                          <p:spTgt spid="23"/>
                                        </p:tgtEl>
                                        <p:attrNameLst>
                                          <p:attrName>style.visibility</p:attrName>
                                        </p:attrNameLst>
                                      </p:cBhvr>
                                      <p:to>
                                        <p:strVal val="visible"/>
                                      </p:to>
                                    </p:set>
                                  </p:childTnLst>
                                </p:cTn>
                              </p:par>
                            </p:childTnLst>
                          </p:cTn>
                        </p:par>
                        <p:par>
                          <p:cTn id="62" fill="hold">
                            <p:stCondLst>
                              <p:cond delay="0"/>
                            </p:stCondLst>
                            <p:childTnLst>
                              <p:par>
                                <p:cTn id="63" presetID="1" presetClass="entr" presetSubtype="0" fill="hold" nodeType="after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childTnLst>
                          </p:cTn>
                        </p:par>
                        <p:par>
                          <p:cTn id="65" fill="hold">
                            <p:stCondLst>
                              <p:cond delay="0"/>
                            </p:stCondLst>
                            <p:childTnLst>
                              <p:par>
                                <p:cTn id="66" presetID="1" presetClass="entr" presetSubtype="0" fill="hold" grpId="0" nodeType="afterEffect">
                                  <p:stCondLst>
                                    <p:cond delay="0"/>
                                  </p:stCondLst>
                                  <p:childTnLst>
                                    <p:set>
                                      <p:cBhvr>
                                        <p:cTn id="67" dur="1" fill="hold">
                                          <p:stCondLst>
                                            <p:cond delay="0"/>
                                          </p:stCondLst>
                                        </p:cTn>
                                        <p:tgtEl>
                                          <p:spTgt spid="25"/>
                                        </p:tgtEl>
                                        <p:attrNameLst>
                                          <p:attrName>style.visibility</p:attrName>
                                        </p:attrNameLst>
                                      </p:cBhvr>
                                      <p:to>
                                        <p:strVal val="visible"/>
                                      </p:to>
                                    </p:set>
                                  </p:childTnLst>
                                </p:cTn>
                              </p:par>
                            </p:childTnLst>
                          </p:cTn>
                        </p:par>
                        <p:par>
                          <p:cTn id="68" fill="hold">
                            <p:stCondLst>
                              <p:cond delay="0"/>
                            </p:stCondLst>
                            <p:childTnLst>
                              <p:par>
                                <p:cTn id="69" presetID="1" presetClass="entr" presetSubtype="0" fill="hold" nodeType="afterEffect">
                                  <p:stCondLst>
                                    <p:cond delay="0"/>
                                  </p:stCondLst>
                                  <p:childTnLst>
                                    <p:set>
                                      <p:cBhvr>
                                        <p:cTn id="70" dur="1" fill="hold">
                                          <p:stCondLst>
                                            <p:cond delay="0"/>
                                          </p:stCondLst>
                                        </p:cTn>
                                        <p:tgtEl>
                                          <p:spTgt spid="26"/>
                                        </p:tgtEl>
                                        <p:attrNameLst>
                                          <p:attrName>style.visibility</p:attrName>
                                        </p:attrNameLst>
                                      </p:cBhvr>
                                      <p:to>
                                        <p:strVal val="visible"/>
                                      </p:to>
                                    </p:set>
                                  </p:childTnLst>
                                </p:cTn>
                              </p:par>
                            </p:childTnLst>
                          </p:cTn>
                        </p:par>
                        <p:par>
                          <p:cTn id="71" fill="hold">
                            <p:stCondLst>
                              <p:cond delay="0"/>
                            </p:stCondLst>
                            <p:childTnLst>
                              <p:par>
                                <p:cTn id="72" presetID="1" presetClass="entr" presetSubtype="0" fill="hold" grpId="0" nodeType="afterEffect">
                                  <p:stCondLst>
                                    <p:cond delay="0"/>
                                  </p:stCondLst>
                                  <p:childTnLst>
                                    <p:set>
                                      <p:cBhvr>
                                        <p:cTn id="73" dur="1" fill="hold">
                                          <p:stCondLst>
                                            <p:cond delay="0"/>
                                          </p:stCondLst>
                                        </p:cTn>
                                        <p:tgtEl>
                                          <p:spTgt spid="27"/>
                                        </p:tgtEl>
                                        <p:attrNameLst>
                                          <p:attrName>style.visibility</p:attrName>
                                        </p:attrNameLst>
                                      </p:cBhvr>
                                      <p:to>
                                        <p:strVal val="visible"/>
                                      </p:to>
                                    </p:set>
                                  </p:childTnLst>
                                </p:cTn>
                              </p:par>
                            </p:childTnLst>
                          </p:cTn>
                        </p:par>
                        <p:par>
                          <p:cTn id="74" fill="hold">
                            <p:stCondLst>
                              <p:cond delay="0"/>
                            </p:stCondLst>
                            <p:childTnLst>
                              <p:par>
                                <p:cTn id="75" presetID="1" presetClass="entr" presetSubtype="0" fill="hold" nodeType="afterEffect">
                                  <p:stCondLst>
                                    <p:cond delay="0"/>
                                  </p:stCondLst>
                                  <p:childTnLst>
                                    <p:set>
                                      <p:cBhvr>
                                        <p:cTn id="76" dur="1" fill="hold">
                                          <p:stCondLst>
                                            <p:cond delay="0"/>
                                          </p:stCondLst>
                                        </p:cTn>
                                        <p:tgtEl>
                                          <p:spTgt spid="28"/>
                                        </p:tgtEl>
                                        <p:attrNameLst>
                                          <p:attrName>style.visibility</p:attrName>
                                        </p:attrNameLst>
                                      </p:cBhvr>
                                      <p:to>
                                        <p:strVal val="visible"/>
                                      </p:to>
                                    </p:set>
                                  </p:childTnLst>
                                </p:cTn>
                              </p:par>
                            </p:childTnLst>
                          </p:cTn>
                        </p:par>
                        <p:par>
                          <p:cTn id="77" fill="hold">
                            <p:stCondLst>
                              <p:cond delay="0"/>
                            </p:stCondLst>
                            <p:childTnLst>
                              <p:par>
                                <p:cTn id="78" presetID="1" presetClass="entr" presetSubtype="0" fill="hold" grpId="0" nodeType="afterEffect">
                                  <p:stCondLst>
                                    <p:cond delay="0"/>
                                  </p:stCondLst>
                                  <p:childTnLst>
                                    <p:set>
                                      <p:cBhvr>
                                        <p:cTn id="79" dur="1" fill="hold">
                                          <p:stCondLst>
                                            <p:cond delay="0"/>
                                          </p:stCondLst>
                                        </p:cTn>
                                        <p:tgtEl>
                                          <p:spTgt spid="29"/>
                                        </p:tgtEl>
                                        <p:attrNameLst>
                                          <p:attrName>style.visibility</p:attrName>
                                        </p:attrNameLst>
                                      </p:cBhvr>
                                      <p:to>
                                        <p:strVal val="visible"/>
                                      </p:to>
                                    </p:set>
                                  </p:childTnLst>
                                </p:cTn>
                              </p:par>
                            </p:childTnLst>
                          </p:cTn>
                        </p:par>
                        <p:par>
                          <p:cTn id="80" fill="hold">
                            <p:stCondLst>
                              <p:cond delay="0"/>
                            </p:stCondLst>
                            <p:childTnLst>
                              <p:par>
                                <p:cTn id="81" presetID="1" presetClass="entr" presetSubtype="0" fill="hold" grpId="0" nodeType="afterEffect">
                                  <p:stCondLst>
                                    <p:cond delay="0"/>
                                  </p:stCondLst>
                                  <p:childTnLst>
                                    <p:set>
                                      <p:cBhvr>
                                        <p:cTn id="82" dur="1" fill="hold">
                                          <p:stCondLst>
                                            <p:cond delay="0"/>
                                          </p:stCondLst>
                                        </p:cTn>
                                        <p:tgtEl>
                                          <p:spTgt spid="30"/>
                                        </p:tgtEl>
                                        <p:attrNameLst>
                                          <p:attrName>style.visibility</p:attrName>
                                        </p:attrNameLst>
                                      </p:cBhvr>
                                      <p:to>
                                        <p:strVal val="visible"/>
                                      </p:to>
                                    </p:set>
                                  </p:childTnLst>
                                </p:cTn>
                              </p:par>
                            </p:childTnLst>
                          </p:cTn>
                        </p:par>
                        <p:par>
                          <p:cTn id="83" fill="hold">
                            <p:stCondLst>
                              <p:cond delay="0"/>
                            </p:stCondLst>
                            <p:childTnLst>
                              <p:par>
                                <p:cTn id="84" presetID="1" presetClass="entr" presetSubtype="0" fill="hold" grpId="0" nodeType="afterEffect">
                                  <p:stCondLst>
                                    <p:cond delay="0"/>
                                  </p:stCondLst>
                                  <p:childTnLst>
                                    <p:set>
                                      <p:cBhvr>
                                        <p:cTn id="85"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P spid="8" grpId="0"/>
      <p:bldP spid="9" grpId="0"/>
      <p:bldP spid="10" grpId="0" animBg="1"/>
      <p:bldP spid="11" grpId="0"/>
      <p:bldP spid="12" grpId="0"/>
      <p:bldP spid="13" grpId="0" animBg="1"/>
      <p:bldP spid="14" grpId="0"/>
      <p:bldP spid="15" grpId="0"/>
      <p:bldP spid="16" grpId="0" animBg="1"/>
      <p:bldP spid="17" grpId="0"/>
      <p:bldP spid="18" grpId="0"/>
      <p:bldP spid="19" grpId="0" animBg="1"/>
      <p:bldP spid="20" grpId="0"/>
      <p:bldP spid="21" grpId="0"/>
      <p:bldP spid="23" grpId="0" animBg="1"/>
      <p:bldP spid="25" grpId="0" animBg="1"/>
      <p:bldP spid="27" grpId="0" animBg="1"/>
      <p:bldP spid="29" grpId="0" animBg="1"/>
      <p:bldP spid="30" grpId="0" animBg="1"/>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558800" y="431800"/>
            <a:ext cx="1422400" cy="101600"/>
          </a:xfrm>
          <a:prstGeom prst="rect">
            <a:avLst/>
          </a:prstGeom>
          <a:solidFill>
            <a:srgbClr val="2DD4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558800" y="584200"/>
            <a:ext cx="3302000" cy="271869"/>
          </a:xfrm>
          <a:prstGeom prst="rect">
            <a:avLst/>
          </a:prstGeom>
          <a:noFill/>
        </p:spPr>
        <p:txBody>
          <a:bodyPr vert="horz" wrap="square" lIns="101600" tIns="50800" rIns="101600" bIns="50800" rtlCol="0">
            <a:spAutoFit/>
          </a:bodyPr>
          <a:lstStyle/>
          <a:p>
            <a:r>
              <a:rPr lang="en-US" sz="1100" b="1" smtClean="0">
                <a:solidFill>
                  <a:srgbClr val="94A3B8"/>
                </a:solidFill>
                <a:latin typeface="Aptos"/>
              </a:rPr>
              <a:t>SMOKE TESTS + SAFETY RULES</a:t>
            </a:r>
            <a:endParaRPr lang="en-US" sz="1100" b="1">
              <a:solidFill>
                <a:srgbClr val="94A3B8"/>
              </a:solidFill>
              <a:latin typeface="Aptos"/>
            </a:endParaRPr>
          </a:p>
        </p:txBody>
      </p:sp>
      <p:sp>
        <p:nvSpPr>
          <p:cNvPr id="5" name="TextBox 4"/>
          <p:cNvSpPr txBox="1"/>
          <p:nvPr/>
        </p:nvSpPr>
        <p:spPr>
          <a:xfrm>
            <a:off x="558800" y="889000"/>
            <a:ext cx="9652000" cy="533479"/>
          </a:xfrm>
          <a:prstGeom prst="rect">
            <a:avLst/>
          </a:prstGeom>
          <a:noFill/>
        </p:spPr>
        <p:txBody>
          <a:bodyPr vert="horz" wrap="square" lIns="101600" tIns="50800" rIns="101600" bIns="50800" rtlCol="0">
            <a:spAutoFit/>
          </a:bodyPr>
          <a:lstStyle/>
          <a:p>
            <a:r>
              <a:rPr lang="en-US" sz="2800" b="1" smtClean="0">
                <a:solidFill>
                  <a:srgbClr val="F8FAFC"/>
                </a:solidFill>
                <a:latin typeface="Aptos Display"/>
              </a:rPr>
              <a:t>Verified Results From This Repo</a:t>
            </a:r>
            <a:endParaRPr lang="en-US" sz="2800" b="1">
              <a:solidFill>
                <a:srgbClr val="F8FAFC"/>
              </a:solidFill>
              <a:latin typeface="Aptos Display"/>
            </a:endParaRPr>
          </a:p>
        </p:txBody>
      </p:sp>
      <p:cxnSp>
        <p:nvCxnSpPr>
          <p:cNvPr id="6" name="Straight Connector 5"/>
          <p:cNvCxnSpPr/>
          <p:nvPr/>
        </p:nvCxnSpPr>
        <p:spPr>
          <a:xfrm>
            <a:off x="558800" y="1676400"/>
            <a:ext cx="11074400" cy="0"/>
          </a:xfrm>
          <a:prstGeom prst="line">
            <a:avLst/>
          </a:prstGeom>
          <a:ln w="15875" cap="flat" cmpd="sng" algn="ctr">
            <a:solidFill>
              <a:srgbClr val="334155"/>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558800" y="2108200"/>
            <a:ext cx="2514600" cy="1676400"/>
          </a:xfrm>
          <a:prstGeom prst="roundRect">
            <a:avLst/>
          </a:prstGeom>
          <a:solidFill>
            <a:srgbClr val="121E36"/>
          </a:solidFill>
          <a:ln w="12700" cap="flat" cmpd="sng" algn="ctr">
            <a:solidFill>
              <a:srgbClr val="475569"/>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762000" y="2413000"/>
            <a:ext cx="2082800" cy="533479"/>
          </a:xfrm>
          <a:prstGeom prst="rect">
            <a:avLst/>
          </a:prstGeom>
          <a:noFill/>
        </p:spPr>
        <p:txBody>
          <a:bodyPr vert="horz" wrap="square" lIns="101600" tIns="50800" rIns="101600" bIns="50800" rtlCol="0">
            <a:spAutoFit/>
          </a:bodyPr>
          <a:lstStyle/>
          <a:p>
            <a:pPr algn="ctr"/>
            <a:r>
              <a:rPr lang="en-US" sz="2800" b="1" smtClean="0">
                <a:solidFill>
                  <a:srgbClr val="2DD4BF"/>
                </a:solidFill>
                <a:latin typeface="Aptos Display"/>
              </a:rPr>
              <a:t>15 / 15</a:t>
            </a:r>
            <a:endParaRPr lang="en-US" sz="2800" b="1">
              <a:solidFill>
                <a:srgbClr val="2DD4BF"/>
              </a:solidFill>
              <a:latin typeface="Aptos Display"/>
            </a:endParaRPr>
          </a:p>
        </p:txBody>
      </p:sp>
      <p:sp>
        <p:nvSpPr>
          <p:cNvPr id="9" name="TextBox 8"/>
          <p:cNvSpPr txBox="1"/>
          <p:nvPr/>
        </p:nvSpPr>
        <p:spPr>
          <a:xfrm>
            <a:off x="762000" y="3022600"/>
            <a:ext cx="2082800" cy="533479"/>
          </a:xfrm>
          <a:prstGeom prst="rect">
            <a:avLst/>
          </a:prstGeom>
          <a:noFill/>
        </p:spPr>
        <p:txBody>
          <a:bodyPr vert="horz" wrap="square" lIns="101600" tIns="50800" rIns="101600" bIns="50800" rtlCol="0">
            <a:spAutoFit/>
          </a:bodyPr>
          <a:lstStyle/>
          <a:p>
            <a:pPr algn="ctr"/>
            <a:r>
              <a:rPr lang="en-US" sz="1400" smtClean="0">
                <a:solidFill>
                  <a:srgbClr val="E2E8F0"/>
                </a:solidFill>
                <a:latin typeface="Aptos"/>
              </a:rPr>
              <a:t>retrieval + API smoke tests passed</a:t>
            </a:r>
            <a:endParaRPr lang="en-US" sz="1400">
              <a:solidFill>
                <a:srgbClr val="E2E8F0"/>
              </a:solidFill>
              <a:latin typeface="Aptos"/>
            </a:endParaRPr>
          </a:p>
        </p:txBody>
      </p:sp>
      <p:sp>
        <p:nvSpPr>
          <p:cNvPr id="10" name="Rounded Rectangle 9"/>
          <p:cNvSpPr/>
          <p:nvPr/>
        </p:nvSpPr>
        <p:spPr>
          <a:xfrm>
            <a:off x="3276600" y="2108200"/>
            <a:ext cx="2514600" cy="1676400"/>
          </a:xfrm>
          <a:prstGeom prst="roundRect">
            <a:avLst/>
          </a:prstGeom>
          <a:solidFill>
            <a:srgbClr val="121E36"/>
          </a:solidFill>
          <a:ln w="12700" cap="flat" cmpd="sng" algn="ctr">
            <a:solidFill>
              <a:srgbClr val="475569"/>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3479800" y="2413000"/>
            <a:ext cx="2082800" cy="533479"/>
          </a:xfrm>
          <a:prstGeom prst="rect">
            <a:avLst/>
          </a:prstGeom>
          <a:noFill/>
        </p:spPr>
        <p:txBody>
          <a:bodyPr vert="horz" wrap="square" lIns="101600" tIns="50800" rIns="101600" bIns="50800" rtlCol="0">
            <a:spAutoFit/>
          </a:bodyPr>
          <a:lstStyle/>
          <a:p>
            <a:pPr algn="ctr"/>
            <a:r>
              <a:rPr lang="en-US" sz="2800" b="1" smtClean="0">
                <a:solidFill>
                  <a:srgbClr val="F59E0B"/>
                </a:solidFill>
                <a:latin typeface="Aptos Display"/>
              </a:rPr>
              <a:t>5 / 5</a:t>
            </a:r>
            <a:endParaRPr lang="en-US" sz="2800" b="1">
              <a:solidFill>
                <a:srgbClr val="F59E0B"/>
              </a:solidFill>
              <a:latin typeface="Aptos Display"/>
            </a:endParaRPr>
          </a:p>
        </p:txBody>
      </p:sp>
      <p:sp>
        <p:nvSpPr>
          <p:cNvPr id="12" name="TextBox 11"/>
          <p:cNvSpPr txBox="1"/>
          <p:nvPr/>
        </p:nvSpPr>
        <p:spPr>
          <a:xfrm>
            <a:off x="3479800" y="3022600"/>
            <a:ext cx="2082800" cy="533479"/>
          </a:xfrm>
          <a:prstGeom prst="rect">
            <a:avLst/>
          </a:prstGeom>
          <a:noFill/>
        </p:spPr>
        <p:txBody>
          <a:bodyPr vert="horz" wrap="square" lIns="101600" tIns="50800" rIns="101600" bIns="50800" rtlCol="0">
            <a:spAutoFit/>
          </a:bodyPr>
          <a:lstStyle/>
          <a:p>
            <a:pPr algn="ctr"/>
            <a:r>
              <a:rPr lang="en-US" sz="1400" smtClean="0">
                <a:solidFill>
                  <a:srgbClr val="E2E8F0"/>
                </a:solidFill>
                <a:latin typeface="Aptos"/>
              </a:rPr>
              <a:t>chat adapter smoke tests passed</a:t>
            </a:r>
            <a:endParaRPr lang="en-US" sz="1400">
              <a:solidFill>
                <a:srgbClr val="E2E8F0"/>
              </a:solidFill>
              <a:latin typeface="Aptos"/>
            </a:endParaRPr>
          </a:p>
        </p:txBody>
      </p:sp>
      <p:sp>
        <p:nvSpPr>
          <p:cNvPr id="13" name="Rounded Rectangle 12"/>
          <p:cNvSpPr/>
          <p:nvPr/>
        </p:nvSpPr>
        <p:spPr>
          <a:xfrm>
            <a:off x="5994400" y="2108200"/>
            <a:ext cx="2514600" cy="1676400"/>
          </a:xfrm>
          <a:prstGeom prst="roundRect">
            <a:avLst/>
          </a:prstGeom>
          <a:solidFill>
            <a:srgbClr val="121E36"/>
          </a:solidFill>
          <a:ln w="12700" cap="flat" cmpd="sng" algn="ctr">
            <a:solidFill>
              <a:srgbClr val="475569"/>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6197600" y="2413000"/>
            <a:ext cx="2082800" cy="533479"/>
          </a:xfrm>
          <a:prstGeom prst="rect">
            <a:avLst/>
          </a:prstGeom>
          <a:noFill/>
        </p:spPr>
        <p:txBody>
          <a:bodyPr vert="horz" wrap="square" lIns="101600" tIns="50800" rIns="101600" bIns="50800" rtlCol="0">
            <a:spAutoFit/>
          </a:bodyPr>
          <a:lstStyle/>
          <a:p>
            <a:pPr algn="ctr"/>
            <a:r>
              <a:rPr lang="en-US" sz="2800" b="1" smtClean="0">
                <a:solidFill>
                  <a:srgbClr val="60A5FA"/>
                </a:solidFill>
                <a:latin typeface="Aptos Display"/>
              </a:rPr>
              <a:t>17</a:t>
            </a:r>
            <a:endParaRPr lang="en-US" sz="2800" b="1">
              <a:solidFill>
                <a:srgbClr val="60A5FA"/>
              </a:solidFill>
              <a:latin typeface="Aptos Display"/>
            </a:endParaRPr>
          </a:p>
        </p:txBody>
      </p:sp>
      <p:sp>
        <p:nvSpPr>
          <p:cNvPr id="15" name="TextBox 14"/>
          <p:cNvSpPr txBox="1"/>
          <p:nvPr/>
        </p:nvSpPr>
        <p:spPr>
          <a:xfrm>
            <a:off x="6197600" y="3022600"/>
            <a:ext cx="2082800" cy="748923"/>
          </a:xfrm>
          <a:prstGeom prst="rect">
            <a:avLst/>
          </a:prstGeom>
          <a:noFill/>
        </p:spPr>
        <p:txBody>
          <a:bodyPr vert="horz" wrap="square" lIns="101600" tIns="50800" rIns="101600" bIns="50800" rtlCol="0">
            <a:spAutoFit/>
          </a:bodyPr>
          <a:lstStyle/>
          <a:p>
            <a:pPr algn="ctr"/>
            <a:r>
              <a:rPr lang="en-US" sz="1400" smtClean="0">
                <a:solidFill>
                  <a:srgbClr val="E2E8F0"/>
                </a:solidFill>
                <a:latin typeface="Aptos"/>
              </a:rPr>
              <a:t>locked factor labels exposed to retrieval and UI</a:t>
            </a:r>
            <a:endParaRPr lang="en-US" sz="1400">
              <a:solidFill>
                <a:srgbClr val="E2E8F0"/>
              </a:solidFill>
              <a:latin typeface="Aptos"/>
            </a:endParaRPr>
          </a:p>
        </p:txBody>
      </p:sp>
      <p:sp>
        <p:nvSpPr>
          <p:cNvPr id="16" name="Rounded Rectangle 15"/>
          <p:cNvSpPr/>
          <p:nvPr/>
        </p:nvSpPr>
        <p:spPr>
          <a:xfrm>
            <a:off x="8712200" y="2108200"/>
            <a:ext cx="2844800" cy="1676400"/>
          </a:xfrm>
          <a:prstGeom prst="roundRect">
            <a:avLst/>
          </a:prstGeom>
          <a:solidFill>
            <a:srgbClr val="121E36"/>
          </a:solidFill>
          <a:ln w="12700" cap="flat" cmpd="sng" algn="ctr">
            <a:solidFill>
              <a:srgbClr val="475569"/>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8915400" y="2413000"/>
            <a:ext cx="2413000" cy="471924"/>
          </a:xfrm>
          <a:prstGeom prst="rect">
            <a:avLst/>
          </a:prstGeom>
          <a:noFill/>
        </p:spPr>
        <p:txBody>
          <a:bodyPr vert="horz" wrap="square" lIns="101600" tIns="50800" rIns="101600" bIns="50800" rtlCol="0">
            <a:spAutoFit/>
          </a:bodyPr>
          <a:lstStyle/>
          <a:p>
            <a:pPr algn="ctr"/>
            <a:r>
              <a:rPr lang="en-US" sz="2400" b="1" smtClean="0">
                <a:solidFill>
                  <a:srgbClr val="F472B6"/>
                </a:solidFill>
                <a:latin typeface="Aptos Display"/>
              </a:rPr>
              <a:t>retrieve first</a:t>
            </a:r>
            <a:endParaRPr lang="en-US" sz="2400" b="1">
              <a:solidFill>
                <a:srgbClr val="F472B6"/>
              </a:solidFill>
              <a:latin typeface="Aptos Display"/>
            </a:endParaRPr>
          </a:p>
        </p:txBody>
      </p:sp>
      <p:sp>
        <p:nvSpPr>
          <p:cNvPr id="18" name="TextBox 17"/>
          <p:cNvSpPr txBox="1"/>
          <p:nvPr/>
        </p:nvSpPr>
        <p:spPr>
          <a:xfrm>
            <a:off x="8915400" y="3022600"/>
            <a:ext cx="2413000" cy="533479"/>
          </a:xfrm>
          <a:prstGeom prst="rect">
            <a:avLst/>
          </a:prstGeom>
          <a:noFill/>
        </p:spPr>
        <p:txBody>
          <a:bodyPr vert="horz" wrap="square" lIns="101600" tIns="50800" rIns="101600" bIns="50800" rtlCol="0">
            <a:spAutoFit/>
          </a:bodyPr>
          <a:lstStyle/>
          <a:p>
            <a:pPr algn="ctr"/>
            <a:r>
              <a:rPr lang="en-US" sz="1400" smtClean="0">
                <a:solidFill>
                  <a:srgbClr val="E2E8F0"/>
                </a:solidFill>
                <a:latin typeface="Aptos"/>
              </a:rPr>
              <a:t>hard rule in the agent system prompt</a:t>
            </a:r>
            <a:endParaRPr lang="en-US" sz="1400">
              <a:solidFill>
                <a:srgbClr val="E2E8F0"/>
              </a:solidFill>
              <a:latin typeface="Aptos"/>
            </a:endParaRPr>
          </a:p>
        </p:txBody>
      </p:sp>
      <p:sp>
        <p:nvSpPr>
          <p:cNvPr id="19" name="Rounded Rectangle 18"/>
          <p:cNvSpPr/>
          <p:nvPr/>
        </p:nvSpPr>
        <p:spPr>
          <a:xfrm>
            <a:off x="558800" y="4191000"/>
            <a:ext cx="10998200" cy="1600200"/>
          </a:xfrm>
          <a:prstGeom prst="roundRect">
            <a:avLst/>
          </a:prstGeom>
          <a:solidFill>
            <a:srgbClr val="1E293B"/>
          </a:solidFill>
          <a:ln w="12700" cap="flat" cmpd="sng" algn="ctr">
            <a:solidFill>
              <a:srgbClr val="475569"/>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838200" y="4470400"/>
            <a:ext cx="10439400" cy="841256"/>
          </a:xfrm>
          <a:prstGeom prst="rect">
            <a:avLst/>
          </a:prstGeom>
          <a:noFill/>
        </p:spPr>
        <p:txBody>
          <a:bodyPr vert="horz" wrap="square" lIns="101600" tIns="50800" rIns="101600" bIns="50800" rtlCol="0">
            <a:spAutoFit/>
          </a:bodyPr>
          <a:lstStyle/>
          <a:p>
            <a:r>
              <a:rPr lang="en-US" sz="1600" smtClean="0">
                <a:solidFill>
                  <a:srgbClr val="E2E8F0"/>
                </a:solidFill>
                <a:latin typeface="Aptos"/>
              </a:rPr>
              <a:t>- Citation normalization and exact-slug lookup are implemented and tested.</a:t>
            </a:r>
          </a:p>
          <a:p>
            <a:r>
              <a:rPr lang="en-US" sz="1600" smtClean="0">
                <a:solidFill>
                  <a:srgbClr val="E2E8F0"/>
                </a:solidFill>
                <a:latin typeface="Aptos"/>
              </a:rPr>
              <a:t>- Assistant turns can persist enriched statute cards for reloads.</a:t>
            </a:r>
          </a:p>
          <a:p>
            <a:r>
              <a:rPr lang="en-US" sz="1600" smtClean="0">
                <a:solidFill>
                  <a:srgbClr val="E2E8F0"/>
                </a:solidFill>
                <a:latin typeface="Aptos"/>
              </a:rPr>
              <a:t>- Web fallback is restricted to whitelisted legal domains rather than generic search results.</a:t>
            </a:r>
            <a:endParaRPr lang="en-US" sz="1600">
              <a:solidFill>
                <a:srgbClr val="E2E8F0"/>
              </a:solidFill>
              <a:latin typeface="Aptos"/>
            </a:endParaRPr>
          </a:p>
        </p:txBody>
      </p:sp>
      <p:sp>
        <p:nvSpPr>
          <p:cNvPr id="21" name="TextBox 20"/>
          <p:cNvSpPr txBox="1"/>
          <p:nvPr/>
        </p:nvSpPr>
        <p:spPr>
          <a:xfrm>
            <a:off x="558800" y="5969000"/>
            <a:ext cx="10998200" cy="471924"/>
          </a:xfrm>
          <a:prstGeom prst="rect">
            <a:avLst/>
          </a:prstGeom>
          <a:noFill/>
        </p:spPr>
        <p:txBody>
          <a:bodyPr vert="horz" wrap="square" lIns="101600" tIns="50800" rIns="101600" bIns="50800" rtlCol="0">
            <a:spAutoFit/>
          </a:bodyPr>
          <a:lstStyle/>
          <a:p>
            <a:r>
              <a:rPr lang="en-US" sz="1200" smtClean="0">
                <a:solidFill>
                  <a:srgbClr val="94A3B8"/>
                </a:solidFill>
                <a:latin typeface="Aptos"/>
              </a:rPr>
              <a:t>Honest current state: the local DB in this workspace is empty right now, so the deck reflects verified code behavior and tests rather than a freshly populated live corpus.</a:t>
            </a:r>
            <a:endParaRPr lang="en-US" sz="1200">
              <a:solidFill>
                <a:srgbClr val="94A3B8"/>
              </a:solidFill>
              <a:latin typeface="Aptos"/>
            </a:endParaRPr>
          </a:p>
        </p:txBody>
      </p:sp>
    </p:spTree>
    <p:extLst>
      <p:ext uri="{BB962C8B-B14F-4D97-AF65-F5344CB8AC3E}">
        <p14:creationId xmlns:p14="http://schemas.microsoft.com/office/powerpoint/2010/main" val="1328967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grpId="0" nodeType="after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grpId="0" nodeType="afterEffect">
                                  <p:stCondLst>
                                    <p:cond delay="0"/>
                                  </p:stCondLst>
                                  <p:childTnLst>
                                    <p:set>
                                      <p:cBhvr>
                                        <p:cTn id="55"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P spid="8" grpId="0"/>
      <p:bldP spid="9" grpId="0"/>
      <p:bldP spid="10" grpId="0" animBg="1"/>
      <p:bldP spid="11" grpId="0"/>
      <p:bldP spid="12" grpId="0"/>
      <p:bldP spid="13" grpId="0" animBg="1"/>
      <p:bldP spid="14" grpId="0"/>
      <p:bldP spid="15" grpId="0"/>
      <p:bldP spid="16" grpId="0" animBg="1"/>
      <p:bldP spid="17" grpId="0"/>
      <p:bldP spid="18" grpId="0"/>
      <p:bldP spid="19" grpId="0" animBg="1"/>
      <p:bldP spid="20"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558800" y="431800"/>
            <a:ext cx="1422400" cy="101600"/>
          </a:xfrm>
          <a:prstGeom prst="rect">
            <a:avLst/>
          </a:prstGeom>
          <a:solidFill>
            <a:srgbClr val="2DD4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558800" y="584200"/>
            <a:ext cx="3302000" cy="271869"/>
          </a:xfrm>
          <a:prstGeom prst="rect">
            <a:avLst/>
          </a:prstGeom>
          <a:noFill/>
        </p:spPr>
        <p:txBody>
          <a:bodyPr vert="horz" wrap="square" lIns="101600" tIns="50800" rIns="101600" bIns="50800" rtlCol="0">
            <a:spAutoFit/>
          </a:bodyPr>
          <a:lstStyle/>
          <a:p>
            <a:r>
              <a:rPr lang="en-US" sz="1100" b="1" smtClean="0">
                <a:solidFill>
                  <a:srgbClr val="94A3B8"/>
                </a:solidFill>
                <a:latin typeface="Aptos"/>
              </a:rPr>
              <a:t>CHAT-FIRST UI</a:t>
            </a:r>
            <a:endParaRPr lang="en-US" sz="1100" b="1">
              <a:solidFill>
                <a:srgbClr val="94A3B8"/>
              </a:solidFill>
              <a:latin typeface="Aptos"/>
            </a:endParaRPr>
          </a:p>
        </p:txBody>
      </p:sp>
      <p:sp>
        <p:nvSpPr>
          <p:cNvPr id="5" name="TextBox 4"/>
          <p:cNvSpPr txBox="1"/>
          <p:nvPr/>
        </p:nvSpPr>
        <p:spPr>
          <a:xfrm>
            <a:off x="558800" y="889000"/>
            <a:ext cx="9652000" cy="533479"/>
          </a:xfrm>
          <a:prstGeom prst="rect">
            <a:avLst/>
          </a:prstGeom>
          <a:noFill/>
        </p:spPr>
        <p:txBody>
          <a:bodyPr vert="horz" wrap="square" lIns="101600" tIns="50800" rIns="101600" bIns="50800" rtlCol="0">
            <a:spAutoFit/>
          </a:bodyPr>
          <a:lstStyle/>
          <a:p>
            <a:r>
              <a:rPr lang="en-US" sz="2800" b="1" smtClean="0">
                <a:solidFill>
                  <a:srgbClr val="F8FAFC"/>
                </a:solidFill>
                <a:latin typeface="Aptos Display"/>
              </a:rPr>
              <a:t>What The Product Experience Looks Like</a:t>
            </a:r>
            <a:endParaRPr lang="en-US" sz="2800" b="1">
              <a:solidFill>
                <a:srgbClr val="F8FAFC"/>
              </a:solidFill>
              <a:latin typeface="Aptos Display"/>
            </a:endParaRPr>
          </a:p>
        </p:txBody>
      </p:sp>
      <p:cxnSp>
        <p:nvCxnSpPr>
          <p:cNvPr id="6" name="Straight Connector 5"/>
          <p:cNvCxnSpPr/>
          <p:nvPr/>
        </p:nvCxnSpPr>
        <p:spPr>
          <a:xfrm>
            <a:off x="558800" y="1676400"/>
            <a:ext cx="11074400" cy="0"/>
          </a:xfrm>
          <a:prstGeom prst="line">
            <a:avLst/>
          </a:prstGeom>
          <a:ln w="15875" cap="flat" cmpd="sng" algn="ctr">
            <a:solidFill>
              <a:srgbClr val="334155"/>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685800" y="2057400"/>
            <a:ext cx="10820400" cy="3987800"/>
          </a:xfrm>
          <a:prstGeom prst="roundRect">
            <a:avLst/>
          </a:prstGeom>
          <a:solidFill>
            <a:srgbClr val="F8FAFC"/>
          </a:solidFill>
          <a:ln w="12700" cap="flat" cmpd="sng" algn="ctr">
            <a:solidFill>
              <a:srgbClr val="CBD5E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85800" y="2057400"/>
            <a:ext cx="10820400" cy="431800"/>
          </a:xfrm>
          <a:prstGeom prst="rect">
            <a:avLst/>
          </a:prstGeom>
          <a:solidFill>
            <a:srgbClr val="E2E8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066800" y="2159000"/>
            <a:ext cx="2794000" cy="318036"/>
          </a:xfrm>
          <a:prstGeom prst="rect">
            <a:avLst/>
          </a:prstGeom>
          <a:noFill/>
        </p:spPr>
        <p:txBody>
          <a:bodyPr vert="horz" wrap="square" lIns="101600" tIns="50800" rIns="101600" bIns="50800" rtlCol="0">
            <a:spAutoFit/>
          </a:bodyPr>
          <a:lstStyle/>
          <a:p>
            <a:r>
              <a:rPr lang="en-US" sz="1400" b="1" smtClean="0">
                <a:solidFill>
                  <a:srgbClr val="0F172A"/>
                </a:solidFill>
                <a:latin typeface="Aptos Display"/>
              </a:rPr>
              <a:t>CaseLogic</a:t>
            </a:r>
            <a:endParaRPr lang="en-US" sz="1400" b="1">
              <a:solidFill>
                <a:srgbClr val="0F172A"/>
              </a:solidFill>
              <a:latin typeface="Aptos Display"/>
            </a:endParaRPr>
          </a:p>
        </p:txBody>
      </p:sp>
      <p:sp>
        <p:nvSpPr>
          <p:cNvPr id="10" name="Rectangle 9"/>
          <p:cNvSpPr/>
          <p:nvPr/>
        </p:nvSpPr>
        <p:spPr>
          <a:xfrm>
            <a:off x="685800" y="2489200"/>
            <a:ext cx="2235200" cy="3556000"/>
          </a:xfrm>
          <a:prstGeom prst="rect">
            <a:avLst/>
          </a:prstGeom>
          <a:solidFill>
            <a:srgbClr val="F1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889000" y="2692400"/>
            <a:ext cx="1574800" cy="302647"/>
          </a:xfrm>
          <a:prstGeom prst="rect">
            <a:avLst/>
          </a:prstGeom>
          <a:noFill/>
        </p:spPr>
        <p:txBody>
          <a:bodyPr vert="horz" wrap="square" lIns="101600" tIns="50800" rIns="101600" bIns="50800" rtlCol="0">
            <a:spAutoFit/>
          </a:bodyPr>
          <a:lstStyle/>
          <a:p>
            <a:r>
              <a:rPr lang="en-US" sz="1300" b="1" smtClean="0">
                <a:solidFill>
                  <a:srgbClr val="0F172A"/>
                </a:solidFill>
                <a:latin typeface="Aptos"/>
              </a:rPr>
              <a:t>+ New chat</a:t>
            </a:r>
            <a:endParaRPr lang="en-US" sz="1300" b="1">
              <a:solidFill>
                <a:srgbClr val="0F172A"/>
              </a:solidFill>
              <a:latin typeface="Aptos"/>
            </a:endParaRPr>
          </a:p>
        </p:txBody>
      </p:sp>
      <p:sp>
        <p:nvSpPr>
          <p:cNvPr id="12" name="TextBox 11"/>
          <p:cNvSpPr txBox="1"/>
          <p:nvPr/>
        </p:nvSpPr>
        <p:spPr>
          <a:xfrm>
            <a:off x="889000" y="3200400"/>
            <a:ext cx="1676400" cy="1210588"/>
          </a:xfrm>
          <a:prstGeom prst="rect">
            <a:avLst/>
          </a:prstGeom>
          <a:noFill/>
        </p:spPr>
        <p:txBody>
          <a:bodyPr vert="horz" wrap="square" lIns="101600" tIns="50800" rIns="101600" bIns="50800" rtlCol="0">
            <a:spAutoFit/>
          </a:bodyPr>
          <a:lstStyle/>
          <a:p>
            <a:r>
              <a:rPr lang="en-US" sz="1200" smtClean="0">
                <a:solidFill>
                  <a:srgbClr val="475569"/>
                </a:solidFill>
                <a:latin typeface="Aptos"/>
              </a:rPr>
              <a:t>Rear-end at red light</a:t>
            </a:r>
          </a:p>
          <a:p>
            <a:endParaRPr lang="en-US" sz="1200" smtClean="0">
              <a:solidFill>
                <a:srgbClr val="475569"/>
              </a:solidFill>
              <a:latin typeface="Aptos"/>
            </a:endParaRPr>
          </a:p>
          <a:p>
            <a:r>
              <a:rPr lang="en-US" sz="1200" smtClean="0">
                <a:solidFill>
                  <a:srgbClr val="475569"/>
                </a:solidFill>
                <a:latin typeface="Aptos"/>
              </a:rPr>
              <a:t>Cal. Veh. Code 23152(a)</a:t>
            </a:r>
          </a:p>
          <a:p>
            <a:endParaRPr lang="en-US" sz="1200" smtClean="0">
              <a:solidFill>
                <a:srgbClr val="475569"/>
              </a:solidFill>
              <a:latin typeface="Aptos"/>
            </a:endParaRPr>
          </a:p>
          <a:p>
            <a:r>
              <a:rPr lang="en-US" sz="1200" smtClean="0">
                <a:solidFill>
                  <a:srgbClr val="475569"/>
                </a:solidFill>
                <a:latin typeface="Aptos"/>
              </a:rPr>
              <a:t>Improper passing</a:t>
            </a:r>
            <a:endParaRPr lang="en-US" sz="1200">
              <a:solidFill>
                <a:srgbClr val="475569"/>
              </a:solidFill>
              <a:latin typeface="Aptos"/>
            </a:endParaRPr>
          </a:p>
        </p:txBody>
      </p:sp>
      <p:sp>
        <p:nvSpPr>
          <p:cNvPr id="13" name="Rectangle 12"/>
          <p:cNvSpPr/>
          <p:nvPr/>
        </p:nvSpPr>
        <p:spPr>
          <a:xfrm>
            <a:off x="2921000" y="2489200"/>
            <a:ext cx="8585200" cy="3556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7467600" y="2844800"/>
            <a:ext cx="3530600" cy="558800"/>
          </a:xfrm>
          <a:prstGeom prst="roundRect">
            <a:avLst/>
          </a:prstGeom>
          <a:solidFill>
            <a:srgbClr val="2DD4BF"/>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rgbClr val="475569"/>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7620000" y="2971800"/>
            <a:ext cx="3200400" cy="302647"/>
          </a:xfrm>
          <a:prstGeom prst="rect">
            <a:avLst/>
          </a:prstGeom>
          <a:noFill/>
        </p:spPr>
        <p:txBody>
          <a:bodyPr vert="horz" wrap="square" lIns="101600" tIns="50800" rIns="101600" bIns="50800" rtlCol="0">
            <a:spAutoFit/>
          </a:bodyPr>
          <a:lstStyle/>
          <a:p>
            <a:r>
              <a:rPr lang="en-US" sz="1300" smtClean="0">
                <a:solidFill>
                  <a:srgbClr val="0F172A"/>
                </a:solidFill>
                <a:latin typeface="Aptos"/>
              </a:rPr>
              <a:t>What is the rule for red lights in CA?</a:t>
            </a:r>
            <a:endParaRPr lang="en-US" sz="1300">
              <a:solidFill>
                <a:srgbClr val="0F172A"/>
              </a:solidFill>
              <a:latin typeface="Aptos"/>
            </a:endParaRPr>
          </a:p>
        </p:txBody>
      </p:sp>
      <p:sp>
        <p:nvSpPr>
          <p:cNvPr id="16" name="TextBox 15"/>
          <p:cNvSpPr txBox="1"/>
          <p:nvPr/>
        </p:nvSpPr>
        <p:spPr>
          <a:xfrm>
            <a:off x="3276600" y="3632200"/>
            <a:ext cx="7594600" cy="533479"/>
          </a:xfrm>
          <a:prstGeom prst="rect">
            <a:avLst/>
          </a:prstGeom>
          <a:noFill/>
        </p:spPr>
        <p:txBody>
          <a:bodyPr vert="horz" wrap="square" lIns="101600" tIns="50800" rIns="101600" bIns="50800" rtlCol="0">
            <a:spAutoFit/>
          </a:bodyPr>
          <a:lstStyle/>
          <a:p>
            <a:r>
              <a:rPr lang="en-US" sz="1400" smtClean="0">
                <a:solidFill>
                  <a:srgbClr val="0F172A"/>
                </a:solidFill>
                <a:latin typeface="Aptos"/>
              </a:rPr>
              <a:t>Drivers facing a steady circular red signal must stop and remain stopped until an indication to proceed appears [cite: ca-veh-21453-a].</a:t>
            </a:r>
            <a:endParaRPr lang="en-US" sz="1400">
              <a:solidFill>
                <a:srgbClr val="0F172A"/>
              </a:solidFill>
              <a:latin typeface="Aptos"/>
            </a:endParaRPr>
          </a:p>
        </p:txBody>
      </p:sp>
      <p:sp>
        <p:nvSpPr>
          <p:cNvPr id="17" name="Rounded Rectangle 16"/>
          <p:cNvSpPr/>
          <p:nvPr/>
        </p:nvSpPr>
        <p:spPr>
          <a:xfrm>
            <a:off x="3276600" y="4495800"/>
            <a:ext cx="7721600" cy="1193800"/>
          </a:xfrm>
          <a:prstGeom prst="roundRect">
            <a:avLst/>
          </a:prstGeom>
          <a:solidFill>
            <a:srgbClr val="F8FAFC"/>
          </a:solidFill>
          <a:ln w="12700" cap="flat" cmpd="sng" algn="ctr">
            <a:solidFill>
              <a:srgbClr val="2DD4BF"/>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3479800" y="4648200"/>
            <a:ext cx="4064000" cy="318036"/>
          </a:xfrm>
          <a:prstGeom prst="rect">
            <a:avLst/>
          </a:prstGeom>
          <a:noFill/>
        </p:spPr>
        <p:txBody>
          <a:bodyPr vert="horz" wrap="square" lIns="101600" tIns="50800" rIns="101600" bIns="50800" rtlCol="0">
            <a:spAutoFit/>
          </a:bodyPr>
          <a:lstStyle/>
          <a:p>
            <a:r>
              <a:rPr lang="en-US" sz="1400" b="1" smtClean="0">
                <a:solidFill>
                  <a:srgbClr val="0F172A"/>
                </a:solidFill>
                <a:latin typeface="Aptos Display"/>
              </a:rPr>
              <a:t>Cal. Veh. Code Section 21453(a)</a:t>
            </a:r>
            <a:endParaRPr lang="en-US" sz="1400" b="1">
              <a:solidFill>
                <a:srgbClr val="0F172A"/>
              </a:solidFill>
              <a:latin typeface="Aptos Display"/>
            </a:endParaRPr>
          </a:p>
        </p:txBody>
      </p:sp>
      <p:sp>
        <p:nvSpPr>
          <p:cNvPr id="19" name="TextBox 18"/>
          <p:cNvSpPr txBox="1"/>
          <p:nvPr/>
        </p:nvSpPr>
        <p:spPr>
          <a:xfrm>
            <a:off x="7797800" y="4648200"/>
            <a:ext cx="2794000" cy="287258"/>
          </a:xfrm>
          <a:prstGeom prst="rect">
            <a:avLst/>
          </a:prstGeom>
          <a:noFill/>
        </p:spPr>
        <p:txBody>
          <a:bodyPr vert="horz" wrap="square" lIns="101600" tIns="50800" rIns="101600" bIns="50800" rtlCol="0">
            <a:spAutoFit/>
          </a:bodyPr>
          <a:lstStyle/>
          <a:p>
            <a:pPr algn="r"/>
            <a:r>
              <a:rPr lang="en-US" sz="1200" b="1" smtClean="0">
                <a:solidFill>
                  <a:srgbClr val="0D9488"/>
                </a:solidFill>
                <a:latin typeface="Aptos"/>
              </a:rPr>
              <a:t>matched_via: citation</a:t>
            </a:r>
            <a:endParaRPr lang="en-US" sz="1200" b="1">
              <a:solidFill>
                <a:srgbClr val="0D9488"/>
              </a:solidFill>
              <a:latin typeface="Aptos"/>
            </a:endParaRPr>
          </a:p>
        </p:txBody>
      </p:sp>
      <p:sp>
        <p:nvSpPr>
          <p:cNvPr id="20" name="TextBox 19"/>
          <p:cNvSpPr txBox="1"/>
          <p:nvPr/>
        </p:nvSpPr>
        <p:spPr>
          <a:xfrm>
            <a:off x="3479800" y="4978400"/>
            <a:ext cx="7112000" cy="502702"/>
          </a:xfrm>
          <a:prstGeom prst="rect">
            <a:avLst/>
          </a:prstGeom>
          <a:noFill/>
        </p:spPr>
        <p:txBody>
          <a:bodyPr vert="horz" wrap="square" lIns="101600" tIns="50800" rIns="101600" bIns="50800" rtlCol="0">
            <a:spAutoFit/>
          </a:bodyPr>
          <a:lstStyle/>
          <a:p>
            <a:r>
              <a:rPr lang="en-US" sz="1300" smtClean="0">
                <a:solidFill>
                  <a:srgbClr val="475569"/>
                </a:solidFill>
                <a:latin typeface="Aptos"/>
              </a:rPr>
              <a:t>Inline result cards let the user inspect the hit, then open the full source text in a dedicated modal.</a:t>
            </a:r>
            <a:endParaRPr lang="en-US" sz="1300">
              <a:solidFill>
                <a:srgbClr val="475569"/>
              </a:solidFill>
              <a:latin typeface="Aptos"/>
            </a:endParaRPr>
          </a:p>
        </p:txBody>
      </p:sp>
      <p:sp>
        <p:nvSpPr>
          <p:cNvPr id="21" name="TextBox 20"/>
          <p:cNvSpPr txBox="1"/>
          <p:nvPr/>
        </p:nvSpPr>
        <p:spPr>
          <a:xfrm>
            <a:off x="736600" y="6172200"/>
            <a:ext cx="3175000" cy="333425"/>
          </a:xfrm>
          <a:prstGeom prst="rect">
            <a:avLst/>
          </a:prstGeom>
          <a:noFill/>
        </p:spPr>
        <p:txBody>
          <a:bodyPr vert="horz" wrap="square" lIns="101600" tIns="50800" rIns="101600" bIns="50800" rtlCol="0">
            <a:spAutoFit/>
          </a:bodyPr>
          <a:lstStyle/>
          <a:p>
            <a:r>
              <a:rPr lang="en-US" sz="1500" b="1" smtClean="0">
                <a:solidFill>
                  <a:srgbClr val="2DD4BF"/>
                </a:solidFill>
                <a:latin typeface="Aptos Display"/>
              </a:rPr>
              <a:t>1. persistent chats</a:t>
            </a:r>
            <a:endParaRPr lang="en-US" sz="1500" b="1">
              <a:solidFill>
                <a:srgbClr val="2DD4BF"/>
              </a:solidFill>
              <a:latin typeface="Aptos Display"/>
            </a:endParaRPr>
          </a:p>
        </p:txBody>
      </p:sp>
      <p:sp>
        <p:nvSpPr>
          <p:cNvPr id="22" name="TextBox 21"/>
          <p:cNvSpPr txBox="1"/>
          <p:nvPr/>
        </p:nvSpPr>
        <p:spPr>
          <a:xfrm>
            <a:off x="4318000" y="6172200"/>
            <a:ext cx="2794000" cy="333425"/>
          </a:xfrm>
          <a:prstGeom prst="rect">
            <a:avLst/>
          </a:prstGeom>
          <a:noFill/>
        </p:spPr>
        <p:txBody>
          <a:bodyPr vert="horz" wrap="square" lIns="101600" tIns="50800" rIns="101600" bIns="50800" rtlCol="0">
            <a:spAutoFit/>
          </a:bodyPr>
          <a:lstStyle/>
          <a:p>
            <a:r>
              <a:rPr lang="en-US" sz="1500" b="1" smtClean="0">
                <a:solidFill>
                  <a:srgbClr val="F59E0B"/>
                </a:solidFill>
                <a:latin typeface="Aptos Display"/>
              </a:rPr>
              <a:t>2. grounded answer</a:t>
            </a:r>
            <a:endParaRPr lang="en-US" sz="1500" b="1">
              <a:solidFill>
                <a:srgbClr val="F59E0B"/>
              </a:solidFill>
              <a:latin typeface="Aptos Display"/>
            </a:endParaRPr>
          </a:p>
        </p:txBody>
      </p:sp>
      <p:sp>
        <p:nvSpPr>
          <p:cNvPr id="23" name="TextBox 22"/>
          <p:cNvSpPr txBox="1"/>
          <p:nvPr/>
        </p:nvSpPr>
        <p:spPr>
          <a:xfrm>
            <a:off x="7823200" y="6172200"/>
            <a:ext cx="3276600" cy="333425"/>
          </a:xfrm>
          <a:prstGeom prst="rect">
            <a:avLst/>
          </a:prstGeom>
          <a:noFill/>
        </p:spPr>
        <p:txBody>
          <a:bodyPr vert="horz" wrap="square" lIns="101600" tIns="50800" rIns="101600" bIns="50800" rtlCol="0">
            <a:spAutoFit/>
          </a:bodyPr>
          <a:lstStyle/>
          <a:p>
            <a:r>
              <a:rPr lang="en-US" sz="1500" b="1" smtClean="0">
                <a:solidFill>
                  <a:srgbClr val="60A5FA"/>
                </a:solidFill>
                <a:latin typeface="Aptos Display"/>
              </a:rPr>
              <a:t>3. inspect the source</a:t>
            </a:r>
            <a:endParaRPr lang="en-US" sz="1500" b="1">
              <a:solidFill>
                <a:srgbClr val="60A5FA"/>
              </a:solidFill>
              <a:latin typeface="Aptos Display"/>
            </a:endParaRPr>
          </a:p>
        </p:txBody>
      </p:sp>
    </p:spTree>
    <p:extLst>
      <p:ext uri="{BB962C8B-B14F-4D97-AF65-F5344CB8AC3E}">
        <p14:creationId xmlns:p14="http://schemas.microsoft.com/office/powerpoint/2010/main" val="3518917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grpId="0" nodeType="after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grpId="0" nodeType="afterEffect">
                                  <p:stCondLst>
                                    <p:cond delay="0"/>
                                  </p:stCondLst>
                                  <p:childTnLst>
                                    <p:set>
                                      <p:cBhvr>
                                        <p:cTn id="55" dur="1" fill="hold">
                                          <p:stCondLst>
                                            <p:cond delay="0"/>
                                          </p:stCondLst>
                                        </p:cTn>
                                        <p:tgtEl>
                                          <p:spTgt spid="21"/>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par>
                          <p:cTn id="59" fill="hold">
                            <p:stCondLst>
                              <p:cond delay="0"/>
                            </p:stCondLst>
                            <p:childTnLst>
                              <p:par>
                                <p:cTn id="60" presetID="1" presetClass="entr" presetSubtype="0" fill="hold" grpId="0" nodeType="afterEffect">
                                  <p:stCondLst>
                                    <p:cond delay="0"/>
                                  </p:stCondLst>
                                  <p:childTnLst>
                                    <p:set>
                                      <p:cBhvr>
                                        <p:cTn id="61"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P spid="8" grpId="0" animBg="1"/>
      <p:bldP spid="9" grpId="0"/>
      <p:bldP spid="10" grpId="0" animBg="1"/>
      <p:bldP spid="11" grpId="0"/>
      <p:bldP spid="12" grpId="0"/>
      <p:bldP spid="13" grpId="0" animBg="1"/>
      <p:bldP spid="14" grpId="0" animBg="1"/>
      <p:bldP spid="15" grpId="0"/>
      <p:bldP spid="16" grpId="0"/>
      <p:bldP spid="17" grpId="0" animBg="1"/>
      <p:bldP spid="18" grpId="0"/>
      <p:bldP spid="19" grpId="0"/>
      <p:bldP spid="20" grpId="0"/>
      <p:bldP spid="21" grpId="0"/>
      <p:bldP spid="22"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558800" y="431800"/>
            <a:ext cx="1422400" cy="101600"/>
          </a:xfrm>
          <a:prstGeom prst="rect">
            <a:avLst/>
          </a:prstGeom>
          <a:solidFill>
            <a:srgbClr val="2DD4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558800" y="584200"/>
            <a:ext cx="3302000" cy="271869"/>
          </a:xfrm>
          <a:prstGeom prst="rect">
            <a:avLst/>
          </a:prstGeom>
          <a:noFill/>
        </p:spPr>
        <p:txBody>
          <a:bodyPr vert="horz" wrap="square" lIns="101600" tIns="50800" rIns="101600" bIns="50800" rtlCol="0">
            <a:spAutoFit/>
          </a:bodyPr>
          <a:lstStyle/>
          <a:p>
            <a:r>
              <a:rPr lang="en-US" sz="1100" b="1" smtClean="0">
                <a:solidFill>
                  <a:srgbClr val="94A3B8"/>
                </a:solidFill>
                <a:latin typeface="Aptos"/>
              </a:rPr>
              <a:t>TRUST MODEL</a:t>
            </a:r>
            <a:endParaRPr lang="en-US" sz="1100" b="1">
              <a:solidFill>
                <a:srgbClr val="94A3B8"/>
              </a:solidFill>
              <a:latin typeface="Aptos"/>
            </a:endParaRPr>
          </a:p>
        </p:txBody>
      </p:sp>
      <p:sp>
        <p:nvSpPr>
          <p:cNvPr id="5" name="TextBox 4"/>
          <p:cNvSpPr txBox="1"/>
          <p:nvPr/>
        </p:nvSpPr>
        <p:spPr>
          <a:xfrm>
            <a:off x="558800" y="889000"/>
            <a:ext cx="9652000" cy="533479"/>
          </a:xfrm>
          <a:prstGeom prst="rect">
            <a:avLst/>
          </a:prstGeom>
          <a:noFill/>
        </p:spPr>
        <p:txBody>
          <a:bodyPr vert="horz" wrap="square" lIns="101600" tIns="50800" rIns="101600" bIns="50800" rtlCol="0">
            <a:spAutoFit/>
          </a:bodyPr>
          <a:lstStyle/>
          <a:p>
            <a:r>
              <a:rPr lang="en-US" sz="2800" b="1" smtClean="0">
                <a:solidFill>
                  <a:srgbClr val="F8FAFC"/>
                </a:solidFill>
                <a:latin typeface="Aptos Display"/>
              </a:rPr>
              <a:t>Grounding And Safety Are Built Into The Agent</a:t>
            </a:r>
            <a:endParaRPr lang="en-US" sz="2800" b="1">
              <a:solidFill>
                <a:srgbClr val="F8FAFC"/>
              </a:solidFill>
              <a:latin typeface="Aptos Display"/>
            </a:endParaRPr>
          </a:p>
        </p:txBody>
      </p:sp>
      <p:cxnSp>
        <p:nvCxnSpPr>
          <p:cNvPr id="6" name="Straight Connector 5"/>
          <p:cNvCxnSpPr/>
          <p:nvPr/>
        </p:nvCxnSpPr>
        <p:spPr>
          <a:xfrm>
            <a:off x="558800" y="1676400"/>
            <a:ext cx="11074400" cy="0"/>
          </a:xfrm>
          <a:prstGeom prst="line">
            <a:avLst/>
          </a:prstGeom>
          <a:ln w="15875" cap="flat" cmpd="sng" algn="ctr">
            <a:solidFill>
              <a:srgbClr val="334155"/>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558800" y="2387600"/>
            <a:ext cx="3175000" cy="2895600"/>
          </a:xfrm>
          <a:prstGeom prst="roundRect">
            <a:avLst/>
          </a:prstGeom>
          <a:solidFill>
            <a:srgbClr val="121E36"/>
          </a:solidFill>
          <a:ln w="19050" cap="flat" cmpd="sng" algn="ctr">
            <a:solidFill>
              <a:srgbClr val="2DD4BF"/>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727200" y="2590800"/>
            <a:ext cx="838200" cy="838200"/>
          </a:xfrm>
          <a:prstGeom prst="ellipse">
            <a:avLst/>
          </a:prstGeom>
          <a:solidFill>
            <a:srgbClr val="2DD4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87400" y="3632200"/>
            <a:ext cx="2717800" cy="379591"/>
          </a:xfrm>
          <a:prstGeom prst="rect">
            <a:avLst/>
          </a:prstGeom>
          <a:noFill/>
        </p:spPr>
        <p:txBody>
          <a:bodyPr vert="horz" wrap="square" lIns="101600" tIns="50800" rIns="101600" bIns="50800" rtlCol="0">
            <a:spAutoFit/>
          </a:bodyPr>
          <a:lstStyle/>
          <a:p>
            <a:pPr algn="ctr"/>
            <a:r>
              <a:rPr lang="en-US" b="1" smtClean="0">
                <a:solidFill>
                  <a:srgbClr val="F8FAFC"/>
                </a:solidFill>
                <a:latin typeface="Aptos Display"/>
              </a:rPr>
              <a:t>Retrieve first</a:t>
            </a:r>
            <a:endParaRPr lang="en-US" b="1">
              <a:solidFill>
                <a:srgbClr val="F8FAFC"/>
              </a:solidFill>
              <a:latin typeface="Aptos Display"/>
            </a:endParaRPr>
          </a:p>
        </p:txBody>
      </p:sp>
      <p:sp>
        <p:nvSpPr>
          <p:cNvPr id="10" name="TextBox 9"/>
          <p:cNvSpPr txBox="1"/>
          <p:nvPr/>
        </p:nvSpPr>
        <p:spPr>
          <a:xfrm>
            <a:off x="787400" y="4089400"/>
            <a:ext cx="2717800" cy="1102866"/>
          </a:xfrm>
          <a:prstGeom prst="rect">
            <a:avLst/>
          </a:prstGeom>
          <a:noFill/>
        </p:spPr>
        <p:txBody>
          <a:bodyPr vert="horz" wrap="square" lIns="101600" tIns="50800" rIns="101600" bIns="50800" rtlCol="0">
            <a:spAutoFit/>
          </a:bodyPr>
          <a:lstStyle/>
          <a:p>
            <a:pPr algn="ctr"/>
            <a:r>
              <a:rPr lang="en-US" sz="1300" smtClean="0">
                <a:solidFill>
                  <a:srgbClr val="CBD5E1"/>
                </a:solidFill>
                <a:latin typeface="Aptos"/>
              </a:rPr>
              <a:t>The system prompt explicitly forbids answering factual legal questions from memory. The agent is supposed to search before it states a rule.</a:t>
            </a:r>
            <a:endParaRPr lang="en-US" sz="1300">
              <a:solidFill>
                <a:srgbClr val="CBD5E1"/>
              </a:solidFill>
              <a:latin typeface="Aptos"/>
            </a:endParaRPr>
          </a:p>
        </p:txBody>
      </p:sp>
      <p:sp>
        <p:nvSpPr>
          <p:cNvPr id="11" name="Rounded Rectangle 10"/>
          <p:cNvSpPr/>
          <p:nvPr/>
        </p:nvSpPr>
        <p:spPr>
          <a:xfrm>
            <a:off x="4292600" y="2387600"/>
            <a:ext cx="3175000" cy="2895600"/>
          </a:xfrm>
          <a:prstGeom prst="roundRect">
            <a:avLst/>
          </a:prstGeom>
          <a:solidFill>
            <a:srgbClr val="121E36"/>
          </a:solidFill>
          <a:ln w="19050" cap="flat" cmpd="sng" algn="ctr">
            <a:solidFill>
              <a:srgbClr val="F59E0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5461000" y="2590800"/>
            <a:ext cx="838200" cy="838200"/>
          </a:xfrm>
          <a:prstGeom prst="ellipse">
            <a:avLst/>
          </a:prstGeom>
          <a:solidFill>
            <a:srgbClr val="F59E0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4521200" y="3632200"/>
            <a:ext cx="2717800" cy="379591"/>
          </a:xfrm>
          <a:prstGeom prst="rect">
            <a:avLst/>
          </a:prstGeom>
          <a:noFill/>
        </p:spPr>
        <p:txBody>
          <a:bodyPr vert="horz" wrap="square" lIns="101600" tIns="50800" rIns="101600" bIns="50800" rtlCol="0">
            <a:spAutoFit/>
          </a:bodyPr>
          <a:lstStyle/>
          <a:p>
            <a:pPr algn="ctr"/>
            <a:r>
              <a:rPr lang="en-US" b="1" smtClean="0">
                <a:solidFill>
                  <a:srgbClr val="F8FAFC"/>
                </a:solidFill>
                <a:latin typeface="Aptos Display"/>
              </a:rPr>
              <a:t>Cite every claim</a:t>
            </a:r>
            <a:endParaRPr lang="en-US" b="1">
              <a:solidFill>
                <a:srgbClr val="F8FAFC"/>
              </a:solidFill>
              <a:latin typeface="Aptos Display"/>
            </a:endParaRPr>
          </a:p>
        </p:txBody>
      </p:sp>
      <p:sp>
        <p:nvSpPr>
          <p:cNvPr id="14" name="TextBox 13"/>
          <p:cNvSpPr txBox="1"/>
          <p:nvPr/>
        </p:nvSpPr>
        <p:spPr>
          <a:xfrm>
            <a:off x="4521200" y="4089400"/>
            <a:ext cx="2717800" cy="1102866"/>
          </a:xfrm>
          <a:prstGeom prst="rect">
            <a:avLst/>
          </a:prstGeom>
          <a:noFill/>
        </p:spPr>
        <p:txBody>
          <a:bodyPr vert="horz" wrap="square" lIns="101600" tIns="50800" rIns="101600" bIns="50800" rtlCol="0">
            <a:spAutoFit/>
          </a:bodyPr>
          <a:lstStyle/>
          <a:p>
            <a:pPr algn="ctr"/>
            <a:r>
              <a:rPr lang="en-US" sz="1300" smtClean="0">
                <a:solidFill>
                  <a:srgbClr val="CBD5E1"/>
                </a:solidFill>
                <a:latin typeface="Aptos"/>
              </a:rPr>
              <a:t>The prompt requires each factual statement to end with a cite marker so the answer can be traced back to a statute or an allowed web source.</a:t>
            </a:r>
            <a:endParaRPr lang="en-US" sz="1300">
              <a:solidFill>
                <a:srgbClr val="CBD5E1"/>
              </a:solidFill>
              <a:latin typeface="Aptos"/>
            </a:endParaRPr>
          </a:p>
        </p:txBody>
      </p:sp>
      <p:sp>
        <p:nvSpPr>
          <p:cNvPr id="15" name="Rounded Rectangle 14"/>
          <p:cNvSpPr/>
          <p:nvPr/>
        </p:nvSpPr>
        <p:spPr>
          <a:xfrm>
            <a:off x="8026400" y="2387600"/>
            <a:ext cx="3175000" cy="2895600"/>
          </a:xfrm>
          <a:prstGeom prst="roundRect">
            <a:avLst/>
          </a:prstGeom>
          <a:solidFill>
            <a:srgbClr val="121E36"/>
          </a:solidFill>
          <a:ln w="19050" cap="flat" cmpd="sng" algn="ctr">
            <a:solidFill>
              <a:srgbClr val="60A5FA"/>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9194800" y="2590800"/>
            <a:ext cx="838200" cy="838200"/>
          </a:xfrm>
          <a:prstGeom prst="ellipse">
            <a:avLst/>
          </a:prstGeom>
          <a:solidFill>
            <a:srgbClr val="60A5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8255000" y="3632200"/>
            <a:ext cx="2717800" cy="379591"/>
          </a:xfrm>
          <a:prstGeom prst="rect">
            <a:avLst/>
          </a:prstGeom>
          <a:noFill/>
        </p:spPr>
        <p:txBody>
          <a:bodyPr vert="horz" wrap="square" lIns="101600" tIns="50800" rIns="101600" bIns="50800" rtlCol="0">
            <a:spAutoFit/>
          </a:bodyPr>
          <a:lstStyle/>
          <a:p>
            <a:pPr algn="ctr"/>
            <a:r>
              <a:rPr lang="en-US" b="1" smtClean="0">
                <a:solidFill>
                  <a:srgbClr val="F8FAFC"/>
                </a:solidFill>
                <a:latin typeface="Aptos Display"/>
              </a:rPr>
              <a:t>Limit web fallback</a:t>
            </a:r>
            <a:endParaRPr lang="en-US" b="1">
              <a:solidFill>
                <a:srgbClr val="F8FAFC"/>
              </a:solidFill>
              <a:latin typeface="Aptos Display"/>
            </a:endParaRPr>
          </a:p>
        </p:txBody>
      </p:sp>
      <p:sp>
        <p:nvSpPr>
          <p:cNvPr id="18" name="TextBox 17"/>
          <p:cNvSpPr txBox="1"/>
          <p:nvPr/>
        </p:nvSpPr>
        <p:spPr>
          <a:xfrm>
            <a:off x="8255000" y="4089400"/>
            <a:ext cx="2717800" cy="902811"/>
          </a:xfrm>
          <a:prstGeom prst="rect">
            <a:avLst/>
          </a:prstGeom>
          <a:noFill/>
        </p:spPr>
        <p:txBody>
          <a:bodyPr vert="horz" wrap="square" lIns="101600" tIns="50800" rIns="101600" bIns="50800" rtlCol="0">
            <a:spAutoFit/>
          </a:bodyPr>
          <a:lstStyle/>
          <a:p>
            <a:pPr algn="ctr"/>
            <a:r>
              <a:rPr lang="en-US" sz="1300" smtClean="0">
                <a:solidFill>
                  <a:srgbClr val="CBD5E1"/>
                </a:solidFill>
                <a:latin typeface="Aptos"/>
              </a:rPr>
              <a:t>If the agent leaves the local corpus, it uses a Firecrawl-backed search that rejects non-whitelisted domains server-side.</a:t>
            </a:r>
            <a:endParaRPr lang="en-US" sz="1300">
              <a:solidFill>
                <a:srgbClr val="CBD5E1"/>
              </a:solidFill>
              <a:latin typeface="Aptos"/>
            </a:endParaRPr>
          </a:p>
        </p:txBody>
      </p:sp>
      <p:sp>
        <p:nvSpPr>
          <p:cNvPr id="19" name="Rounded Rectangle 18"/>
          <p:cNvSpPr/>
          <p:nvPr/>
        </p:nvSpPr>
        <p:spPr>
          <a:xfrm>
            <a:off x="1574800" y="5562600"/>
            <a:ext cx="8966200" cy="736600"/>
          </a:xfrm>
          <a:prstGeom prst="roundRect">
            <a:avLst/>
          </a:prstGeom>
          <a:solidFill>
            <a:srgbClr val="1E293B"/>
          </a:solidFill>
          <a:ln w="12700" cap="flat" cmpd="sng" algn="ctr">
            <a:solidFill>
              <a:srgbClr val="475569"/>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1828800" y="5765800"/>
            <a:ext cx="8458200" cy="564257"/>
          </a:xfrm>
          <a:prstGeom prst="rect">
            <a:avLst/>
          </a:prstGeom>
          <a:noFill/>
        </p:spPr>
        <p:txBody>
          <a:bodyPr vert="horz" wrap="square" lIns="101600" tIns="50800" rIns="101600" bIns="50800" rtlCol="0">
            <a:spAutoFit/>
          </a:bodyPr>
          <a:lstStyle/>
          <a:p>
            <a:pPr algn="ctr"/>
            <a:r>
              <a:rPr lang="en-US" sz="1500" b="1" smtClean="0">
                <a:solidFill>
                  <a:srgbClr val="F8FAFC"/>
                </a:solidFill>
                <a:latin typeface="Aptos"/>
              </a:rPr>
              <a:t>If no source supports a claim, the prompt instructs the agent to mark it unsupported rather than silently inventing or deleting it.</a:t>
            </a:r>
            <a:endParaRPr lang="en-US" sz="1500" b="1">
              <a:solidFill>
                <a:srgbClr val="F8FAFC"/>
              </a:solidFill>
              <a:latin typeface="Aptos"/>
            </a:endParaRPr>
          </a:p>
        </p:txBody>
      </p:sp>
    </p:spTree>
    <p:extLst>
      <p:ext uri="{BB962C8B-B14F-4D97-AF65-F5344CB8AC3E}">
        <p14:creationId xmlns:p14="http://schemas.microsoft.com/office/powerpoint/2010/main" val="1278024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grpId="0" nodeType="after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P spid="8" grpId="0" animBg="1"/>
      <p:bldP spid="9" grpId="0"/>
      <p:bldP spid="10" grpId="0"/>
      <p:bldP spid="11" grpId="0" animBg="1"/>
      <p:bldP spid="12" grpId="0" animBg="1"/>
      <p:bldP spid="13" grpId="0"/>
      <p:bldP spid="14" grpId="0"/>
      <p:bldP spid="15" grpId="0" animBg="1"/>
      <p:bldP spid="16" grpId="0" animBg="1"/>
      <p:bldP spid="17" grpId="0"/>
      <p:bldP spid="18" grpId="0"/>
      <p:bldP spid="19" grpId="0" animBg="1"/>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558800" y="431800"/>
            <a:ext cx="1422400" cy="101600"/>
          </a:xfrm>
          <a:prstGeom prst="rect">
            <a:avLst/>
          </a:prstGeom>
          <a:solidFill>
            <a:srgbClr val="2DD4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558800" y="584200"/>
            <a:ext cx="3302000" cy="271869"/>
          </a:xfrm>
          <a:prstGeom prst="rect">
            <a:avLst/>
          </a:prstGeom>
          <a:noFill/>
        </p:spPr>
        <p:txBody>
          <a:bodyPr vert="horz" wrap="square" lIns="101600" tIns="50800" rIns="101600" bIns="50800" rtlCol="0">
            <a:spAutoFit/>
          </a:bodyPr>
          <a:lstStyle/>
          <a:p>
            <a:r>
              <a:rPr lang="en-US" sz="1100" b="1" smtClean="0">
                <a:solidFill>
                  <a:srgbClr val="94A3B8"/>
                </a:solidFill>
                <a:latin typeface="Aptos"/>
              </a:rPr>
              <a:t>HONEST STATUS</a:t>
            </a:r>
            <a:endParaRPr lang="en-US" sz="1100" b="1">
              <a:solidFill>
                <a:srgbClr val="94A3B8"/>
              </a:solidFill>
              <a:latin typeface="Aptos"/>
            </a:endParaRPr>
          </a:p>
        </p:txBody>
      </p:sp>
      <p:sp>
        <p:nvSpPr>
          <p:cNvPr id="5" name="TextBox 4"/>
          <p:cNvSpPr txBox="1"/>
          <p:nvPr/>
        </p:nvSpPr>
        <p:spPr>
          <a:xfrm>
            <a:off x="558800" y="889000"/>
            <a:ext cx="9652000" cy="964367"/>
          </a:xfrm>
          <a:prstGeom prst="rect">
            <a:avLst/>
          </a:prstGeom>
          <a:noFill/>
        </p:spPr>
        <p:txBody>
          <a:bodyPr vert="horz" wrap="square" lIns="101600" tIns="50800" rIns="101600" bIns="50800" rtlCol="0">
            <a:spAutoFit/>
          </a:bodyPr>
          <a:lstStyle/>
          <a:p>
            <a:r>
              <a:rPr lang="en-US" sz="2800" b="1" smtClean="0">
                <a:solidFill>
                  <a:srgbClr val="F8FAFC"/>
                </a:solidFill>
                <a:latin typeface="Aptos Display"/>
              </a:rPr>
              <a:t>Gaps We Can State Clearly -- And The Fastest Next Moves</a:t>
            </a:r>
            <a:endParaRPr lang="en-US" sz="2800" b="1">
              <a:solidFill>
                <a:srgbClr val="F8FAFC"/>
              </a:solidFill>
              <a:latin typeface="Aptos Display"/>
            </a:endParaRPr>
          </a:p>
        </p:txBody>
      </p:sp>
      <p:cxnSp>
        <p:nvCxnSpPr>
          <p:cNvPr id="6" name="Straight Connector 5"/>
          <p:cNvCxnSpPr/>
          <p:nvPr/>
        </p:nvCxnSpPr>
        <p:spPr>
          <a:xfrm>
            <a:off x="558800" y="1676400"/>
            <a:ext cx="11074400" cy="0"/>
          </a:xfrm>
          <a:prstGeom prst="line">
            <a:avLst/>
          </a:prstGeom>
          <a:ln w="15875" cap="flat" cmpd="sng" algn="ctr">
            <a:solidFill>
              <a:srgbClr val="334155"/>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558800" y="2184400"/>
            <a:ext cx="5054600" cy="3581400"/>
          </a:xfrm>
          <a:prstGeom prst="roundRect">
            <a:avLst/>
          </a:prstGeom>
          <a:solidFill>
            <a:srgbClr val="1E293B"/>
          </a:solidFill>
          <a:ln w="12700" cap="flat" cmpd="sng" algn="ctr">
            <a:solidFill>
              <a:srgbClr val="475569"/>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812800" y="2463800"/>
            <a:ext cx="3175000" cy="379591"/>
          </a:xfrm>
          <a:prstGeom prst="rect">
            <a:avLst/>
          </a:prstGeom>
          <a:noFill/>
        </p:spPr>
        <p:txBody>
          <a:bodyPr vert="horz" wrap="square" lIns="101600" tIns="50800" rIns="101600" bIns="50800" rtlCol="0">
            <a:spAutoFit/>
          </a:bodyPr>
          <a:lstStyle/>
          <a:p>
            <a:r>
              <a:rPr lang="en-US" b="1" smtClean="0">
                <a:solidFill>
                  <a:srgbClr val="F8FAFC"/>
                </a:solidFill>
                <a:latin typeface="Aptos Display"/>
              </a:rPr>
              <a:t>Still missing or partial</a:t>
            </a:r>
            <a:endParaRPr lang="en-US" b="1">
              <a:solidFill>
                <a:srgbClr val="F8FAFC"/>
              </a:solidFill>
              <a:latin typeface="Aptos Display"/>
            </a:endParaRPr>
          </a:p>
        </p:txBody>
      </p:sp>
      <p:sp>
        <p:nvSpPr>
          <p:cNvPr id="9" name="TextBox 8"/>
          <p:cNvSpPr txBox="1"/>
          <p:nvPr/>
        </p:nvSpPr>
        <p:spPr>
          <a:xfrm>
            <a:off x="812800" y="2946400"/>
            <a:ext cx="4292600" cy="1949252"/>
          </a:xfrm>
          <a:prstGeom prst="rect">
            <a:avLst/>
          </a:prstGeom>
          <a:noFill/>
        </p:spPr>
        <p:txBody>
          <a:bodyPr vert="horz" wrap="square" lIns="101600" tIns="50800" rIns="101600" bIns="50800" rtlCol="0">
            <a:spAutoFit/>
          </a:bodyPr>
          <a:lstStyle/>
          <a:p>
            <a:r>
              <a:rPr lang="en-US" sz="1500" smtClean="0">
                <a:solidFill>
                  <a:srgbClr val="E2E8F0"/>
                </a:solidFill>
                <a:latin typeface="Aptos"/>
              </a:rPr>
              <a:t>- OpenClaw tools.json and agent_prompt.md are still stubs.</a:t>
            </a:r>
          </a:p>
          <a:p>
            <a:endParaRPr lang="en-US" sz="1500" smtClean="0">
              <a:solidFill>
                <a:srgbClr val="E2E8F0"/>
              </a:solidFill>
              <a:latin typeface="Aptos"/>
            </a:endParaRPr>
          </a:p>
          <a:p>
            <a:r>
              <a:rPr lang="en-US" sz="1500" smtClean="0">
                <a:solidFill>
                  <a:srgbClr val="E2E8F0"/>
                </a:solidFill>
                <a:latin typeface="Aptos"/>
              </a:rPr>
              <a:t>- There is no finished evaluation harness that writes eval_report.json yet.</a:t>
            </a:r>
          </a:p>
          <a:p>
            <a:endParaRPr lang="en-US" sz="1500" smtClean="0">
              <a:solidFill>
                <a:srgbClr val="E2E8F0"/>
              </a:solidFill>
              <a:latin typeface="Aptos"/>
            </a:endParaRPr>
          </a:p>
          <a:p>
            <a:r>
              <a:rPr lang="en-US" sz="1500" smtClean="0">
                <a:solidFill>
                  <a:srgbClr val="E2E8F0"/>
                </a:solidFill>
                <a:latin typeface="Aptos"/>
              </a:rPr>
              <a:t>- This workspace needs a fresh ingest before it can demo a live populated corpus.</a:t>
            </a:r>
            <a:endParaRPr lang="en-US" sz="1500">
              <a:solidFill>
                <a:srgbClr val="E2E8F0"/>
              </a:solidFill>
              <a:latin typeface="Aptos"/>
            </a:endParaRPr>
          </a:p>
        </p:txBody>
      </p:sp>
      <p:sp>
        <p:nvSpPr>
          <p:cNvPr id="10" name="Rounded Rectangle 9"/>
          <p:cNvSpPr/>
          <p:nvPr/>
        </p:nvSpPr>
        <p:spPr>
          <a:xfrm>
            <a:off x="5943600" y="2184400"/>
            <a:ext cx="5613400" cy="3581400"/>
          </a:xfrm>
          <a:prstGeom prst="roundRect">
            <a:avLst/>
          </a:prstGeom>
          <a:solidFill>
            <a:srgbClr val="121E36"/>
          </a:solidFill>
          <a:ln w="12700" cap="flat" cmpd="sng" algn="ctr">
            <a:solidFill>
              <a:srgbClr val="475569"/>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6223000" y="2463800"/>
            <a:ext cx="3429000" cy="379591"/>
          </a:xfrm>
          <a:prstGeom prst="rect">
            <a:avLst/>
          </a:prstGeom>
          <a:noFill/>
        </p:spPr>
        <p:txBody>
          <a:bodyPr vert="horz" wrap="square" lIns="101600" tIns="50800" rIns="101600" bIns="50800" rtlCol="0">
            <a:spAutoFit/>
          </a:bodyPr>
          <a:lstStyle/>
          <a:p>
            <a:r>
              <a:rPr lang="en-US" b="1" smtClean="0">
                <a:solidFill>
                  <a:srgbClr val="F8FAFC"/>
                </a:solidFill>
                <a:latin typeface="Aptos Display"/>
              </a:rPr>
              <a:t>Best next 3 moves</a:t>
            </a:r>
            <a:endParaRPr lang="en-US" b="1">
              <a:solidFill>
                <a:srgbClr val="F8FAFC"/>
              </a:solidFill>
              <a:latin typeface="Aptos Display"/>
            </a:endParaRPr>
          </a:p>
        </p:txBody>
      </p:sp>
      <p:sp>
        <p:nvSpPr>
          <p:cNvPr id="12" name="Rounded Rectangle 11"/>
          <p:cNvSpPr/>
          <p:nvPr/>
        </p:nvSpPr>
        <p:spPr>
          <a:xfrm>
            <a:off x="6223000" y="2997200"/>
            <a:ext cx="5029200" cy="736600"/>
          </a:xfrm>
          <a:prstGeom prst="roundRect">
            <a:avLst/>
          </a:prstGeom>
          <a:solidFill>
            <a:srgbClr val="0F172A"/>
          </a:solidFill>
          <a:ln w="12700" cap="flat" cmpd="sng" algn="ctr">
            <a:solidFill>
              <a:srgbClr val="2DD4BF"/>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6426200" y="3200400"/>
            <a:ext cx="4622800" cy="533479"/>
          </a:xfrm>
          <a:prstGeom prst="rect">
            <a:avLst/>
          </a:prstGeom>
          <a:noFill/>
        </p:spPr>
        <p:txBody>
          <a:bodyPr vert="horz" wrap="square" lIns="101600" tIns="50800" rIns="101600" bIns="50800" rtlCol="0">
            <a:spAutoFit/>
          </a:bodyPr>
          <a:lstStyle/>
          <a:p>
            <a:r>
              <a:rPr lang="en-US" sz="1400" smtClean="0">
                <a:solidFill>
                  <a:srgbClr val="F8FAFC"/>
                </a:solidFill>
                <a:latin typeface="Aptos"/>
              </a:rPr>
              <a:t>1. Run full ingest + retrieval build so the live corpus is demo-ready.</a:t>
            </a:r>
            <a:endParaRPr lang="en-US" sz="1400">
              <a:solidFill>
                <a:srgbClr val="F8FAFC"/>
              </a:solidFill>
              <a:latin typeface="Aptos"/>
            </a:endParaRPr>
          </a:p>
        </p:txBody>
      </p:sp>
      <p:sp>
        <p:nvSpPr>
          <p:cNvPr id="14" name="Rounded Rectangle 13"/>
          <p:cNvSpPr/>
          <p:nvPr/>
        </p:nvSpPr>
        <p:spPr>
          <a:xfrm>
            <a:off x="6223000" y="3886200"/>
            <a:ext cx="5029200" cy="736600"/>
          </a:xfrm>
          <a:prstGeom prst="roundRect">
            <a:avLst/>
          </a:prstGeom>
          <a:solidFill>
            <a:srgbClr val="0F172A"/>
          </a:solidFill>
          <a:ln w="12700" cap="flat" cmpd="sng" algn="ctr">
            <a:solidFill>
              <a:srgbClr val="F59E0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6426200" y="4089400"/>
            <a:ext cx="4622800" cy="533479"/>
          </a:xfrm>
          <a:prstGeom prst="rect">
            <a:avLst/>
          </a:prstGeom>
          <a:noFill/>
        </p:spPr>
        <p:txBody>
          <a:bodyPr vert="horz" wrap="square" lIns="101600" tIns="50800" rIns="101600" bIns="50800" rtlCol="0">
            <a:spAutoFit/>
          </a:bodyPr>
          <a:lstStyle/>
          <a:p>
            <a:r>
              <a:rPr lang="en-US" sz="1400" smtClean="0">
                <a:solidFill>
                  <a:srgbClr val="F8FAFC"/>
                </a:solidFill>
                <a:latin typeface="Aptos"/>
              </a:rPr>
              <a:t>2. Add the eval-report writer so /status can show a real recall number.</a:t>
            </a:r>
            <a:endParaRPr lang="en-US" sz="1400">
              <a:solidFill>
                <a:srgbClr val="F8FAFC"/>
              </a:solidFill>
              <a:latin typeface="Aptos"/>
            </a:endParaRPr>
          </a:p>
        </p:txBody>
      </p:sp>
      <p:sp>
        <p:nvSpPr>
          <p:cNvPr id="16" name="Rounded Rectangle 15"/>
          <p:cNvSpPr/>
          <p:nvPr/>
        </p:nvSpPr>
        <p:spPr>
          <a:xfrm>
            <a:off x="6223000" y="4775200"/>
            <a:ext cx="5029200" cy="736600"/>
          </a:xfrm>
          <a:prstGeom prst="roundRect">
            <a:avLst/>
          </a:prstGeom>
          <a:solidFill>
            <a:srgbClr val="0F172A"/>
          </a:solidFill>
          <a:ln w="12700" cap="flat" cmpd="sng" algn="ctr">
            <a:solidFill>
              <a:srgbClr val="60A5FA"/>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6426200" y="4978400"/>
            <a:ext cx="4622800" cy="533479"/>
          </a:xfrm>
          <a:prstGeom prst="rect">
            <a:avLst/>
          </a:prstGeom>
          <a:noFill/>
        </p:spPr>
        <p:txBody>
          <a:bodyPr vert="horz" wrap="square" lIns="101600" tIns="50800" rIns="101600" bIns="50800" rtlCol="0">
            <a:spAutoFit/>
          </a:bodyPr>
          <a:lstStyle/>
          <a:p>
            <a:r>
              <a:rPr lang="en-US" sz="1400" smtClean="0">
                <a:solidFill>
                  <a:srgbClr val="F8FAFC"/>
                </a:solidFill>
                <a:latin typeface="Aptos"/>
              </a:rPr>
              <a:t>3. Point OpenClaw manifests at the already-working backend agent tools.</a:t>
            </a:r>
            <a:endParaRPr lang="en-US" sz="1400">
              <a:solidFill>
                <a:srgbClr val="F8FAFC"/>
              </a:solidFill>
              <a:latin typeface="Aptos"/>
            </a:endParaRPr>
          </a:p>
        </p:txBody>
      </p:sp>
      <p:sp>
        <p:nvSpPr>
          <p:cNvPr id="18" name="TextBox 17"/>
          <p:cNvSpPr txBox="1"/>
          <p:nvPr/>
        </p:nvSpPr>
        <p:spPr>
          <a:xfrm>
            <a:off x="558800" y="6019800"/>
            <a:ext cx="10998200" cy="318036"/>
          </a:xfrm>
          <a:prstGeom prst="rect">
            <a:avLst/>
          </a:prstGeom>
          <a:noFill/>
        </p:spPr>
        <p:txBody>
          <a:bodyPr vert="horz" wrap="square" lIns="101600" tIns="50800" rIns="101600" bIns="50800" rtlCol="0">
            <a:spAutoFit/>
          </a:bodyPr>
          <a:lstStyle/>
          <a:p>
            <a:pPr algn="ctr"/>
            <a:r>
              <a:rPr lang="en-US" sz="1400" smtClean="0">
                <a:solidFill>
                  <a:srgbClr val="94A3B8"/>
                </a:solidFill>
                <a:latin typeface="Aptos"/>
              </a:rPr>
              <a:t>The good news: most remaining work is integration, dataset population, and reporting -- not a rewrite of the core architecture.</a:t>
            </a:r>
            <a:endParaRPr lang="en-US" sz="1400">
              <a:solidFill>
                <a:srgbClr val="94A3B8"/>
              </a:solidFill>
              <a:latin typeface="Aptos"/>
            </a:endParaRPr>
          </a:p>
        </p:txBody>
      </p:sp>
    </p:spTree>
    <p:extLst>
      <p:ext uri="{BB962C8B-B14F-4D97-AF65-F5344CB8AC3E}">
        <p14:creationId xmlns:p14="http://schemas.microsoft.com/office/powerpoint/2010/main" val="3339144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P spid="8" grpId="0"/>
      <p:bldP spid="9" grpId="0"/>
      <p:bldP spid="10" grpId="0" animBg="1"/>
      <p:bldP spid="11" grpId="0"/>
      <p:bldP spid="12" grpId="0" animBg="1"/>
      <p:bldP spid="13" grpId="0"/>
      <p:bldP spid="14" grpId="0" animBg="1"/>
      <p:bldP spid="15" grpId="0"/>
      <p:bldP spid="16" grpId="0" animBg="1"/>
      <p:bldP spid="17" grpId="0"/>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F17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558800" y="431800"/>
            <a:ext cx="1422400" cy="101600"/>
          </a:xfrm>
          <a:prstGeom prst="rect">
            <a:avLst/>
          </a:prstGeom>
          <a:solidFill>
            <a:srgbClr val="2DD4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558800" y="584200"/>
            <a:ext cx="3302000" cy="271869"/>
          </a:xfrm>
          <a:prstGeom prst="rect">
            <a:avLst/>
          </a:prstGeom>
          <a:noFill/>
        </p:spPr>
        <p:txBody>
          <a:bodyPr vert="horz" wrap="square" lIns="101600" tIns="50800" rIns="101600" bIns="50800" rtlCol="0">
            <a:spAutoFit/>
          </a:bodyPr>
          <a:lstStyle/>
          <a:p>
            <a:r>
              <a:rPr lang="en-US" sz="1100" b="1" smtClean="0">
                <a:solidFill>
                  <a:srgbClr val="94A3B8"/>
                </a:solidFill>
                <a:latin typeface="Aptos"/>
              </a:rPr>
              <a:t>WHY THIS MATTERS</a:t>
            </a:r>
            <a:endParaRPr lang="en-US" sz="1100" b="1">
              <a:solidFill>
                <a:srgbClr val="94A3B8"/>
              </a:solidFill>
              <a:latin typeface="Aptos"/>
            </a:endParaRPr>
          </a:p>
        </p:txBody>
      </p:sp>
      <p:sp>
        <p:nvSpPr>
          <p:cNvPr id="5" name="TextBox 4"/>
          <p:cNvSpPr txBox="1"/>
          <p:nvPr/>
        </p:nvSpPr>
        <p:spPr>
          <a:xfrm>
            <a:off x="558800" y="889000"/>
            <a:ext cx="9652000" cy="533479"/>
          </a:xfrm>
          <a:prstGeom prst="rect">
            <a:avLst/>
          </a:prstGeom>
          <a:noFill/>
        </p:spPr>
        <p:txBody>
          <a:bodyPr vert="horz" wrap="square" lIns="101600" tIns="50800" rIns="101600" bIns="50800" rtlCol="0">
            <a:spAutoFit/>
          </a:bodyPr>
          <a:lstStyle/>
          <a:p>
            <a:r>
              <a:rPr lang="en-US" sz="2800" b="1" smtClean="0">
                <a:solidFill>
                  <a:srgbClr val="F8FAFC"/>
                </a:solidFill>
                <a:latin typeface="Aptos Display"/>
              </a:rPr>
              <a:t>Closing Takeaway</a:t>
            </a:r>
            <a:endParaRPr lang="en-US" sz="2800" b="1">
              <a:solidFill>
                <a:srgbClr val="F8FAFC"/>
              </a:solidFill>
              <a:latin typeface="Aptos Display"/>
            </a:endParaRPr>
          </a:p>
        </p:txBody>
      </p:sp>
      <p:cxnSp>
        <p:nvCxnSpPr>
          <p:cNvPr id="6" name="Straight Connector 5"/>
          <p:cNvCxnSpPr/>
          <p:nvPr/>
        </p:nvCxnSpPr>
        <p:spPr>
          <a:xfrm>
            <a:off x="558800" y="1676400"/>
            <a:ext cx="11074400" cy="0"/>
          </a:xfrm>
          <a:prstGeom prst="line">
            <a:avLst/>
          </a:prstGeom>
          <a:ln w="15875" cap="flat" cmpd="sng" algn="ctr">
            <a:solidFill>
              <a:srgbClr val="334155"/>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422400" y="2082800"/>
            <a:ext cx="9347200" cy="1210588"/>
          </a:xfrm>
          <a:prstGeom prst="rect">
            <a:avLst/>
          </a:prstGeom>
          <a:noFill/>
        </p:spPr>
        <p:txBody>
          <a:bodyPr vert="horz" wrap="square" lIns="101600" tIns="50800" rIns="101600" bIns="50800" rtlCol="0">
            <a:spAutoFit/>
          </a:bodyPr>
          <a:lstStyle/>
          <a:p>
            <a:pPr algn="ctr"/>
            <a:r>
              <a:rPr lang="en-US" sz="2400" b="1" smtClean="0">
                <a:solidFill>
                  <a:srgbClr val="F8FAFC"/>
                </a:solidFill>
                <a:latin typeface="Aptos Display"/>
              </a:rPr>
              <a:t>CaseLogic already has the core research loop that matters most: ingest authoritative law, retrieve before answering, and let the user inspect the source immediately.</a:t>
            </a:r>
            <a:endParaRPr lang="en-US" sz="2400" b="1">
              <a:solidFill>
                <a:srgbClr val="F8FAFC"/>
              </a:solidFill>
              <a:latin typeface="Aptos Display"/>
            </a:endParaRPr>
          </a:p>
        </p:txBody>
      </p:sp>
      <p:sp>
        <p:nvSpPr>
          <p:cNvPr id="8" name="Rounded Rectangle 7"/>
          <p:cNvSpPr/>
          <p:nvPr/>
        </p:nvSpPr>
        <p:spPr>
          <a:xfrm>
            <a:off x="1676400" y="3708400"/>
            <a:ext cx="2489200" cy="787400"/>
          </a:xfrm>
          <a:prstGeom prst="roundRect">
            <a:avLst/>
          </a:prstGeom>
          <a:solidFill>
            <a:srgbClr val="1E293B"/>
          </a:solidFill>
          <a:ln w="12700" cap="flat" cmpd="sng" algn="ctr">
            <a:solidFill>
              <a:srgbClr val="2DD4BF"/>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4851400" y="3708400"/>
            <a:ext cx="2489200" cy="787400"/>
          </a:xfrm>
          <a:prstGeom prst="roundRect">
            <a:avLst/>
          </a:prstGeom>
          <a:solidFill>
            <a:srgbClr val="1E293B"/>
          </a:solidFill>
          <a:ln w="12700" cap="flat" cmpd="sng" algn="ctr">
            <a:solidFill>
              <a:srgbClr val="F59E0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8026400" y="3708400"/>
            <a:ext cx="2489200" cy="787400"/>
          </a:xfrm>
          <a:prstGeom prst="roundRect">
            <a:avLst/>
          </a:prstGeom>
          <a:solidFill>
            <a:srgbClr val="1E293B"/>
          </a:solidFill>
          <a:ln w="12700" cap="flat" cmpd="sng" algn="ctr">
            <a:solidFill>
              <a:srgbClr val="60A5FA"/>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854200" y="3987800"/>
            <a:ext cx="2133600" cy="348813"/>
          </a:xfrm>
          <a:prstGeom prst="rect">
            <a:avLst/>
          </a:prstGeom>
          <a:noFill/>
        </p:spPr>
        <p:txBody>
          <a:bodyPr vert="horz" wrap="square" lIns="101600" tIns="50800" rIns="101600" bIns="50800" rtlCol="0">
            <a:spAutoFit/>
          </a:bodyPr>
          <a:lstStyle/>
          <a:p>
            <a:pPr algn="ctr"/>
            <a:r>
              <a:rPr lang="en-US" sz="1600" b="1" smtClean="0">
                <a:solidFill>
                  <a:srgbClr val="F8FAFC"/>
                </a:solidFill>
                <a:latin typeface="Aptos Display"/>
              </a:rPr>
              <a:t>source-grounded</a:t>
            </a:r>
            <a:endParaRPr lang="en-US" sz="1600" b="1">
              <a:solidFill>
                <a:srgbClr val="F8FAFC"/>
              </a:solidFill>
              <a:latin typeface="Aptos Display"/>
            </a:endParaRPr>
          </a:p>
        </p:txBody>
      </p:sp>
      <p:sp>
        <p:nvSpPr>
          <p:cNvPr id="12" name="TextBox 11"/>
          <p:cNvSpPr txBox="1"/>
          <p:nvPr/>
        </p:nvSpPr>
        <p:spPr>
          <a:xfrm>
            <a:off x="5029200" y="3987800"/>
            <a:ext cx="2133600" cy="348813"/>
          </a:xfrm>
          <a:prstGeom prst="rect">
            <a:avLst/>
          </a:prstGeom>
          <a:noFill/>
        </p:spPr>
        <p:txBody>
          <a:bodyPr vert="horz" wrap="square" lIns="101600" tIns="50800" rIns="101600" bIns="50800" rtlCol="0">
            <a:spAutoFit/>
          </a:bodyPr>
          <a:lstStyle/>
          <a:p>
            <a:pPr algn="ctr"/>
            <a:r>
              <a:rPr lang="en-US" sz="1600" b="1" smtClean="0">
                <a:solidFill>
                  <a:srgbClr val="F8FAFC"/>
                </a:solidFill>
                <a:latin typeface="Aptos Display"/>
              </a:rPr>
              <a:t>retrieval-first</a:t>
            </a:r>
            <a:endParaRPr lang="en-US" sz="1600" b="1">
              <a:solidFill>
                <a:srgbClr val="F8FAFC"/>
              </a:solidFill>
              <a:latin typeface="Aptos Display"/>
            </a:endParaRPr>
          </a:p>
        </p:txBody>
      </p:sp>
      <p:sp>
        <p:nvSpPr>
          <p:cNvPr id="13" name="TextBox 12"/>
          <p:cNvSpPr txBox="1"/>
          <p:nvPr/>
        </p:nvSpPr>
        <p:spPr>
          <a:xfrm>
            <a:off x="8204200" y="3987800"/>
            <a:ext cx="2133600" cy="348813"/>
          </a:xfrm>
          <a:prstGeom prst="rect">
            <a:avLst/>
          </a:prstGeom>
          <a:noFill/>
        </p:spPr>
        <p:txBody>
          <a:bodyPr vert="horz" wrap="square" lIns="101600" tIns="50800" rIns="101600" bIns="50800" rtlCol="0">
            <a:spAutoFit/>
          </a:bodyPr>
          <a:lstStyle/>
          <a:p>
            <a:pPr algn="ctr"/>
            <a:r>
              <a:rPr lang="en-US" sz="1600" b="1" smtClean="0">
                <a:solidFill>
                  <a:srgbClr val="F8FAFC"/>
                </a:solidFill>
                <a:latin typeface="Aptos Display"/>
              </a:rPr>
              <a:t>inspectable</a:t>
            </a:r>
            <a:endParaRPr lang="en-US" sz="1600" b="1">
              <a:solidFill>
                <a:srgbClr val="F8FAFC"/>
              </a:solidFill>
              <a:latin typeface="Aptos Display"/>
            </a:endParaRPr>
          </a:p>
        </p:txBody>
      </p:sp>
      <p:sp>
        <p:nvSpPr>
          <p:cNvPr id="14" name="TextBox 13"/>
          <p:cNvSpPr txBox="1"/>
          <p:nvPr/>
        </p:nvSpPr>
        <p:spPr>
          <a:xfrm>
            <a:off x="1422400" y="5130800"/>
            <a:ext cx="9347200" cy="595035"/>
          </a:xfrm>
          <a:prstGeom prst="rect">
            <a:avLst/>
          </a:prstGeom>
          <a:noFill/>
        </p:spPr>
        <p:txBody>
          <a:bodyPr vert="horz" wrap="square" lIns="101600" tIns="50800" rIns="101600" bIns="50800" rtlCol="0">
            <a:spAutoFit/>
          </a:bodyPr>
          <a:lstStyle/>
          <a:p>
            <a:pPr algn="ctr"/>
            <a:r>
              <a:rPr lang="en-US" sz="1600" smtClean="0">
                <a:solidFill>
                  <a:srgbClr val="CBD5E1"/>
                </a:solidFill>
                <a:latin typeface="Aptos"/>
              </a:rPr>
              <a:t>Recommended close: show the chat flow, open the statute modal, and end on the fact that the system exposes its evidence instead of hiding it.</a:t>
            </a:r>
            <a:endParaRPr lang="en-US" sz="1600">
              <a:solidFill>
                <a:srgbClr val="CBD5E1"/>
              </a:solidFill>
              <a:latin typeface="Aptos"/>
            </a:endParaRPr>
          </a:p>
        </p:txBody>
      </p:sp>
    </p:spTree>
    <p:extLst>
      <p:ext uri="{BB962C8B-B14F-4D97-AF65-F5344CB8AC3E}">
        <p14:creationId xmlns:p14="http://schemas.microsoft.com/office/powerpoint/2010/main" val="1738663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animBg="1"/>
      <p:bldP spid="9" grpId="0" animBg="1"/>
      <p:bldP spid="10" grpId="0" animBg="1"/>
      <p:bldP spid="11" grpId="0"/>
      <p:bldP spid="12" grpId="0"/>
      <p:bldP spid="13" grpId="0"/>
      <p:bldP spid="1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962</Words>
  <Application>Microsoft Office PowerPoint</Application>
  <PresentationFormat>Widescreen</PresentationFormat>
  <Paragraphs>133</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Kordmodanlou</dc:creator>
  <cp:lastModifiedBy>Daniel Kordmodanlou</cp:lastModifiedBy>
  <cp:revision>2</cp:revision>
  <dcterms:created xsi:type="dcterms:W3CDTF">2026-05-09T19:11:57Z</dcterms:created>
  <dcterms:modified xsi:type="dcterms:W3CDTF">2026-05-09T19:34:27Z</dcterms:modified>
</cp:coreProperties>
</file>